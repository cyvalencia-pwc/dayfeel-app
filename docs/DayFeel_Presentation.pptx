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F84B53C4-367A-806F-7FE3-4959A845CFCB}">
          <p14:sldIdLst>
            <p14:sldId id="256"/>
          </p14:sldIdLst>
        </p14:section>
        <p14:section name="The Problem" id="{573B062C-9731-5C4A-2B23-0827B2D56740}">
          <p14:sldIdLst>
            <p14:sldId id="257"/>
            <p14:sldId id="258"/>
          </p14:sldIdLst>
        </p14:section>
        <p14:section name="The Idea" id="{938F4451-ACBC-D1A4-86B4-6C4BE9A77D18}">
          <p14:sldIdLst>
            <p14:sldId id="259"/>
            <p14:sldId id="260"/>
            <p14:sldId id="261"/>
          </p14:sldIdLst>
        </p14:section>
        <p14:section name="The Product" id="{5F9E1A67-30E9-8EDB-7FDA-C7F1A8E914C5}">
          <p14:sldIdLst>
            <p14:sldId id="262"/>
            <p14:sldId id="263"/>
          </p14:sldIdLst>
        </p14:section>
        <p14:section name="How It's Built" id="{CBFD6EC3-998E-6F0E-A13F-5A885E1B4F72}">
          <p14:sldIdLst>
            <p14:sldId id="264"/>
            <p14:sldId id="266"/>
            <p14:sldId id="267"/>
            <p14:sldId id="268"/>
          </p14:sldIdLst>
        </p14:section>
        <p14:section name="Workflows &amp; Roadmap" id="{5733CB42-BE72-8C65-2CD2-5B99231C8996}">
          <p14:sldIdLst>
            <p14:sldId id="269"/>
            <p14:sldId id="270"/>
          </p14:sldIdLst>
        </p14:section>
        <p14:section name="Closing" id="{75F9B4BF-E64B-EEED-6353-05CB015C44DD}">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2483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DayFeel brings mood check-ins, private journaling, an AI companion, and moderated community circles into one calm, warm application. This deck walks through the why, the what, and the how.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issue: emotional records are scattered, they lack context, and seeking peer support can feel risky for privacy. Note that this is a design premise, not a clinical finding.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problem maps to one part of the app: check-ins for consistency, journals for context, insights for patterns, companion and circles for connection, and layered safeguards for privacy.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DayFeel is a wordplay on 'They Feel': everyone has feelings worth recognizing. Swapping 'They' for 'Day' ties that idea to the habit of daily check-ins.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'Yellow person' is an informal expression for someone who makes you feel safe and warm. The soft yellow palette expresses that intent. It's an aspiration, not a promise that a color can guarantee emotional safety.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guide the product. Equally important is what DayFeel is not: it complements trusted relationships and professional support. 'Need help now?' links to Find A Helpline, an external service DayFeel doesn't operate.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Members are the everyday users. Moderators keep circles safe within their authorized scope. Administrators set up circles and can also moderate.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implemented, user-facing capabilities. Journals and check-ins are separate records. The boundaries line clarifies what DayFeel intentionally does not provide.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high-level diagram from the technical document. Requests flow browser to Caddy to Nginx, then to the three services. Identity and Content exchange Kafka events. AI reaches OpenAI, and files go straight between browser and S3 using signed URLs.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Responsibilities are split cleanly. Identity owns who you are and what you're allowed to do. Content owns what you write. AI is a stateless adapter. A transactional outbox in Identity publishes domain events to Kafka.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as Docker containers on one EC2 instance, managed by Docker Compose. Caddy and Nginx handle web access, three backend services do the work, and MySQL, MongoDB and Kafka handle data and events. S3 and OpenAI sit outside the instance.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Identity data is relational in MySQL, content is document-oriented in MongoDB, and files live in S3. Because IDs cross databases without foreign keys, event consumers deduplicate and check state so deleted data isn't recreated.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core workflows. Notable details: a day's check-in is updated rather than duplicated; companion memory is opt-in and disabling it doesn't delete history; self-reports are rejected; and a privacy request isn't 'done' until every service confirms completion. Automatic journal analysis still needs its worker to be complete.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enhancements: AI-driven mood insights, a notifications module, account support tools, a defined chat retention policy (implemented only once product rules are agreed), and AI evaluation with cost controls.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DayFeel doesn't ask anyone to feel happy every day; it simply invites them to acknowledge whatever they're feeling.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yFeel Title">
    <p:bg>
      <p:bgPr>
        <a:solidFill>
          <a:srgbClr val="FFF1C7"/>
        </a:solidFill>
        <a:effectLst/>
      </p:bgPr>
    </p:bg>
    <p:spTree>
      <p:nvGrpSpPr>
        <p:cNvPr id="1" name=""/>
        <p:cNvGrpSpPr/>
        <p:nvPr/>
      </p:nvGrpSpPr>
      <p:grpSpPr>
        <a:xfrm>
          <a:off x="0" y="0"/>
          <a:ext cx="0" cy="0"/>
          <a:chOff x="0" y="0"/>
          <a:chExt cx="0" cy="0"/>
        </a:xfrm>
      </p:grpSpPr>
      <p:sp>
        <p:nvSpPr>
          <p:cNvPr id="2" name="Text 0"/>
          <p:cNvSpPr>
            <a:spLocks noGrp="1"/>
          </p:cNvSpPr>
          <p:nvPr>
            <p:ph type="title" idx="103" hasCustomPrompt="1"/>
          </p:nvPr>
        </p:nvSpPr>
        <p:spPr>
          <a:xfrm>
            <a:off x="640080" y="1600200"/>
            <a:ext cx="5669280" cy="868680"/>
          </a:xfrm>
          <a:prstGeom prst="rect">
            <a:avLst/>
          </a:prstGeom>
          <a:noFill/>
          <a:ln/>
        </p:spPr>
        <p:txBody>
          <a:bodyPr wrap="square" rtlCol="0"/>
          <a:lstStyle>
            <a:lvl1pPr marL="0" indent="0" algn="l">
              <a:buNone/>
              <a:defRPr lang="en-US" sz="4400" b="1" dirty="0">
                <a:solidFill>
                  <a:schemeClr val="tx1"/>
                </a:solidFill>
              </a:defRPr>
            </a:lvl1pPr>
          </a:lstStyle>
          <a:p>
            <a:pPr marL="0" indent="0" algn="l">
              <a:buNone/>
            </a:pPr>
            <a:endParaRPr lang="en-US" sz="4400" dirty="0"/>
          </a:p>
        </p:txBody>
      </p:sp>
      <p:sp>
        <p:nvSpPr>
          <p:cNvPr id="3" name="Text 0"/>
          <p:cNvSpPr>
            <a:spLocks noGrp="1"/>
          </p:cNvSpPr>
          <p:nvPr>
            <p:ph type="body" idx="104" hasCustomPrompt="1"/>
          </p:nvPr>
        </p:nvSpPr>
        <p:spPr>
          <a:xfrm>
            <a:off x="640080" y="2606040"/>
            <a:ext cx="5120640" cy="914400"/>
          </a:xfrm>
          <a:prstGeom prst="rect">
            <a:avLst/>
          </a:prstGeom>
          <a:noFill/>
          <a:ln/>
        </p:spPr>
        <p:txBody>
          <a:bodyPr wrap="square" rtlCol="0"/>
          <a:lstStyle>
            <a:lvl1pPr marL="0" indent="0" algn="l">
              <a:buNone/>
              <a:defRPr lang="en-US" sz="1600" dirty="0">
                <a:solidFill>
                  <a:schemeClr val="tx2"/>
                </a:solidFill>
              </a:defRPr>
            </a:lvl1pPr>
          </a:lstStyle>
          <a:p>
            <a:pPr marL="0" indent="0" algn="l">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yFeel Statement">
    <p:bg>
      <p:bgPr>
        <a:solidFill>
          <a:srgbClr val="F0CC60"/>
        </a:solidFill>
        <a:effectLst/>
      </p:bgPr>
    </p:bg>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731520" y="502920"/>
            <a:ext cx="7680960" cy="731520"/>
          </a:xfrm>
          <a:prstGeom prst="rect">
            <a:avLst/>
          </a:prstGeom>
          <a:noFill/>
          <a:ln/>
        </p:spPr>
        <p:txBody>
          <a:bodyPr wrap="square" rtlCol="0"/>
          <a:lstStyle>
            <a:lvl1pPr marL="0" indent="0" algn="ctr">
              <a:buNone/>
              <a:defRPr lang="en-US" sz="3200" b="1" dirty="0">
                <a:solidFill>
                  <a:schemeClr val="tx1"/>
                </a:solidFill>
              </a:defRPr>
            </a:lvl1pPr>
          </a:lstStyle>
          <a:p>
            <a:pPr marL="0" indent="0" algn="ctr">
              <a:buNone/>
            </a:pP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yFeel Content">
    <p:bg>
      <p:bgPr>
        <a:solidFill>
          <a:srgbClr val="FFFAF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7452360" y="4681728"/>
            <a:ext cx="1161288" cy="329184"/>
          </a:xfrm>
          <a:prstGeom prst="rect">
            <a:avLst/>
          </a:prstGeom>
        </p:spPr>
      </p:pic>
      <p:sp>
        <p:nvSpPr>
          <p:cNvPr id="3" name="Text 0"/>
          <p:cNvSpPr>
            <a:spLocks noGrp="1"/>
          </p:cNvSpPr>
          <p:nvPr>
            <p:ph type="title" idx="102" hasCustomPrompt="1"/>
          </p:nvPr>
        </p:nvSpPr>
        <p:spPr>
          <a:xfrm>
            <a:off x="548640" y="320040"/>
            <a:ext cx="7223760" cy="68580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548640" y="4736592"/>
            <a:ext cx="45720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4736592"/>
            <a:ext cx="45720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1.png"/><Relationship Id="rId7"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8.png"/><Relationship Id="rId7"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31.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1.png"/><Relationship Id="rId7"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20.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Text 0"/>
          <p:cNvSpPr>
            <a:spLocks noGrp="1"/>
          </p:cNvSpPr>
          <p:nvPr>
            <p:ph type="body" idx="104" hasCustomPrompt="1"/>
          </p:nvPr>
        </p:nvSpPr>
        <p:spPr>
          <a:xfrm>
            <a:off x="640080" y="3030582"/>
            <a:ext cx="5120640" cy="515983"/>
          </a:xfrm>
          <a:prstGeom prst="rect">
            <a:avLst/>
          </a:prstGeom>
          <a:noFill/>
          <a:ln/>
        </p:spPr>
        <p:txBody>
          <a:bodyPr wrap="square" lIns="0" tIns="0" rIns="0" bIns="0" rtlCol="0" anchor="t"/>
          <a:lstStyle/>
          <a:p>
            <a:pPr marL="0" indent="0" algn="l">
              <a:buNone/>
            </a:pPr>
            <a:r>
              <a:rPr lang="en-US" sz="1600" dirty="0">
                <a:solidFill>
                  <a:schemeClr val="tx2"/>
                </a:solidFill>
              </a:rPr>
              <a:t>A web application for mood check-ins, private reflection, AI-assisted conversation, and moderated peer connection</a:t>
            </a:r>
            <a:endParaRPr lang="en-US" sz="1600" dirty="0"/>
          </a:p>
        </p:txBody>
      </p:sp>
      <p:sp>
        <p:nvSpPr>
          <p:cNvPr id="6" name="Icon circle LuCloudSun"/>
          <p:cNvSpPr/>
          <p:nvPr/>
        </p:nvSpPr>
        <p:spPr>
          <a:xfrm>
            <a:off x="6903720" y="960120"/>
            <a:ext cx="2011680" cy="2011680"/>
          </a:xfrm>
          <a:prstGeom prst="ellipse">
            <a:avLst/>
          </a:prstGeom>
          <a:solidFill>
            <a:srgbClr val="FFFFFF"/>
          </a:solidFill>
          <a:ln/>
        </p:spPr>
        <p:txBody>
          <a:bodyPr/>
          <a:lstStyle/>
          <a:p>
            <a:endParaRPr lang="en-US"/>
          </a:p>
        </p:txBody>
      </p:sp>
      <p:pic>
        <p:nvPicPr>
          <p:cNvPr id="7" name="Image 1" descr="CloudSun icon"/>
          <p:cNvPicPr>
            <a:picLocks noChangeAspect="1"/>
          </p:cNvPicPr>
          <p:nvPr/>
        </p:nvPicPr>
        <p:blipFill>
          <a:blip r:embed="rId3"/>
          <a:stretch>
            <a:fillRect/>
          </a:stretch>
        </p:blipFill>
        <p:spPr>
          <a:xfrm>
            <a:off x="7386523" y="1442923"/>
            <a:ext cx="1046074" cy="1046074"/>
          </a:xfrm>
          <a:prstGeom prst="rect">
            <a:avLst/>
          </a:prstGeom>
        </p:spPr>
      </p:pic>
      <p:pic>
        <p:nvPicPr>
          <p:cNvPr id="11" name="Picture 10">
            <a:extLst>
              <a:ext uri="{FF2B5EF4-FFF2-40B4-BE49-F238E27FC236}">
                <a16:creationId xmlns:a16="http://schemas.microsoft.com/office/drawing/2014/main" id="{93C90095-99D0-A1BC-256E-B7D1BC09A9CB}"/>
              </a:ext>
            </a:extLst>
          </p:cNvPr>
          <p:cNvPicPr>
            <a:picLocks noChangeAspect="1"/>
          </p:cNvPicPr>
          <p:nvPr/>
        </p:nvPicPr>
        <p:blipFill>
          <a:blip r:embed="rId4"/>
          <a:stretch>
            <a:fillRect/>
          </a:stretch>
        </p:blipFill>
        <p:spPr>
          <a:xfrm>
            <a:off x="318864" y="1366793"/>
            <a:ext cx="5250510" cy="14922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548640" y="320040"/>
            <a:ext cx="7223760" cy="685800"/>
          </a:xfrm>
          <a:prstGeom prst="rect">
            <a:avLst/>
          </a:prstGeom>
          <a:noFill/>
          <a:ln/>
        </p:spPr>
        <p:txBody>
          <a:bodyPr wrap="square" lIns="0" tIns="0" rIns="0" bIns="0" rtlCol="0" anchor="ctr"/>
          <a:lstStyle/>
          <a:p>
            <a:pPr marL="0" indent="0" algn="l">
              <a:buNone/>
            </a:pPr>
            <a:r>
              <a:rPr lang="en-US" sz="3000" b="1" dirty="0">
                <a:solidFill>
                  <a:schemeClr val="tx1"/>
                </a:solidFill>
              </a:rPr>
              <a:t>Feelings get scattered everywhere</a:t>
            </a:r>
            <a:endParaRPr lang="en-US" sz="3000" dirty="0"/>
          </a:p>
        </p:txBody>
      </p:sp>
      <p:sp>
        <p:nvSpPr>
          <p:cNvPr id="3" name="Intro text"/>
          <p:cNvSpPr txBox="1"/>
          <p:nvPr/>
        </p:nvSpPr>
        <p:spPr>
          <a:xfrm>
            <a:off x="548640" y="1234440"/>
            <a:ext cx="3017520" cy="1463040"/>
          </a:xfrm>
          <a:prstGeom prst="rect">
            <a:avLst/>
          </a:prstGeom>
          <a:noFill/>
          <a:ln/>
        </p:spPr>
        <p:txBody>
          <a:bodyPr wrap="square" lIns="0" tIns="0" rIns="0" bIns="0" rtlCol="0" anchor="t"/>
          <a:lstStyle/>
          <a:p>
            <a:pPr marL="0" indent="0">
              <a:buNone/>
            </a:pPr>
            <a:r>
              <a:rPr lang="en-US" sz="1600" dirty="0">
                <a:solidFill>
                  <a:schemeClr val="tx1"/>
                </a:solidFill>
              </a:rPr>
              <a:t>People who want to understand their emotions often record them inconsistently, in disconnected notes, chats, and calendars.</a:t>
            </a:r>
            <a:endParaRPr lang="en-US" sz="1600" dirty="0"/>
          </a:p>
        </p:txBody>
      </p:sp>
      <p:sp>
        <p:nvSpPr>
          <p:cNvPr id="5" name="Problem card 1"/>
          <p:cNvSpPr/>
          <p:nvPr/>
        </p:nvSpPr>
        <p:spPr>
          <a:xfrm>
            <a:off x="3931920" y="1188720"/>
            <a:ext cx="4663440" cy="914400"/>
          </a:xfrm>
          <a:prstGeom prst="roundRect">
            <a:avLst>
              <a:gd name="adj" fmla="val 14000"/>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6" name="Icon circle LuCalendarDays"/>
          <p:cNvSpPr/>
          <p:nvPr/>
        </p:nvSpPr>
        <p:spPr>
          <a:xfrm>
            <a:off x="4114800" y="1371600"/>
            <a:ext cx="548640" cy="548640"/>
          </a:xfrm>
          <a:prstGeom prst="ellipse">
            <a:avLst/>
          </a:prstGeom>
          <a:solidFill>
            <a:schemeClr val="accent1"/>
          </a:solidFill>
          <a:ln/>
        </p:spPr>
        <p:txBody>
          <a:bodyPr/>
          <a:lstStyle/>
          <a:p>
            <a:endParaRPr lang="en-US"/>
          </a:p>
        </p:txBody>
      </p:sp>
      <p:pic>
        <p:nvPicPr>
          <p:cNvPr id="7" name="Image 0" descr="CalendarDays icon"/>
          <p:cNvPicPr>
            <a:picLocks noChangeAspect="1"/>
          </p:cNvPicPr>
          <p:nvPr/>
        </p:nvPicPr>
        <p:blipFill>
          <a:blip r:embed="rId3"/>
          <a:stretch>
            <a:fillRect/>
          </a:stretch>
        </p:blipFill>
        <p:spPr>
          <a:xfrm>
            <a:off x="4246474" y="1503274"/>
            <a:ext cx="285293" cy="285293"/>
          </a:xfrm>
          <a:prstGeom prst="rect">
            <a:avLst/>
          </a:prstGeom>
        </p:spPr>
      </p:pic>
      <p:sp>
        <p:nvSpPr>
          <p:cNvPr id="8" name="Text 5"/>
          <p:cNvSpPr txBox="1"/>
          <p:nvPr/>
        </p:nvSpPr>
        <p:spPr>
          <a:xfrm>
            <a:off x="4846320" y="1325880"/>
            <a:ext cx="3566160" cy="274320"/>
          </a:xfrm>
          <a:prstGeom prst="rect">
            <a:avLst/>
          </a:prstGeom>
          <a:noFill/>
          <a:ln/>
        </p:spPr>
        <p:txBody>
          <a:bodyPr wrap="square" lIns="0" tIns="0" rIns="0" bIns="0" rtlCol="0" anchor="t"/>
          <a:lstStyle/>
          <a:p>
            <a:pPr marL="0" indent="0">
              <a:buNone/>
            </a:pPr>
            <a:r>
              <a:rPr lang="en-US" sz="1500" b="1" dirty="0">
                <a:solidFill>
                  <a:schemeClr val="tx1"/>
                </a:solidFill>
                <a:latin typeface="+mj-lt" pitchFamily="34" charset="0"/>
                <a:ea typeface="+mj-lt" pitchFamily="34" charset="-122"/>
                <a:cs typeface="+mj-lt" pitchFamily="34" charset="-120"/>
              </a:rPr>
              <a:t>Hard to look back</a:t>
            </a:r>
            <a:endParaRPr lang="en-US" sz="1500" dirty="0"/>
          </a:p>
        </p:txBody>
      </p:sp>
      <p:sp>
        <p:nvSpPr>
          <p:cNvPr id="9" name="Text 6"/>
          <p:cNvSpPr txBox="1"/>
          <p:nvPr/>
        </p:nvSpPr>
        <p:spPr>
          <a:xfrm>
            <a:off x="4846320" y="1618488"/>
            <a:ext cx="3566160" cy="411480"/>
          </a:xfrm>
          <a:prstGeom prst="rect">
            <a:avLst/>
          </a:prstGeom>
          <a:noFill/>
          <a:ln/>
        </p:spPr>
        <p:txBody>
          <a:bodyPr wrap="square" lIns="0" tIns="0" rIns="0" bIns="0" rtlCol="0" anchor="t"/>
          <a:lstStyle/>
          <a:p>
            <a:pPr marL="0" indent="0">
              <a:buNone/>
            </a:pPr>
            <a:r>
              <a:rPr lang="en-US" sz="1200" dirty="0">
                <a:solidFill>
                  <a:schemeClr val="tx2"/>
                </a:solidFill>
              </a:rPr>
              <a:t>Changes over time are difficult to see when records live in different places.</a:t>
            </a:r>
            <a:endParaRPr lang="en-US" sz="1200" dirty="0"/>
          </a:p>
        </p:txBody>
      </p:sp>
      <p:sp>
        <p:nvSpPr>
          <p:cNvPr id="10" name="Problem card 2"/>
          <p:cNvSpPr/>
          <p:nvPr/>
        </p:nvSpPr>
        <p:spPr>
          <a:xfrm>
            <a:off x="3931920" y="2286000"/>
            <a:ext cx="4663440" cy="914400"/>
          </a:xfrm>
          <a:prstGeom prst="roundRect">
            <a:avLst>
              <a:gd name="adj" fmla="val 14000"/>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11" name="Icon circle LuNotebookPen"/>
          <p:cNvSpPr/>
          <p:nvPr/>
        </p:nvSpPr>
        <p:spPr>
          <a:xfrm>
            <a:off x="4114800" y="2468880"/>
            <a:ext cx="548640" cy="548640"/>
          </a:xfrm>
          <a:prstGeom prst="ellipse">
            <a:avLst/>
          </a:prstGeom>
          <a:solidFill>
            <a:schemeClr val="accent1"/>
          </a:solidFill>
          <a:ln/>
        </p:spPr>
        <p:txBody>
          <a:bodyPr/>
          <a:lstStyle/>
          <a:p>
            <a:endParaRPr lang="en-US"/>
          </a:p>
        </p:txBody>
      </p:sp>
      <p:pic>
        <p:nvPicPr>
          <p:cNvPr id="12" name="Image 1" descr="NotebookPen icon"/>
          <p:cNvPicPr>
            <a:picLocks noChangeAspect="1"/>
          </p:cNvPicPr>
          <p:nvPr/>
        </p:nvPicPr>
        <p:blipFill>
          <a:blip r:embed="rId4"/>
          <a:stretch>
            <a:fillRect/>
          </a:stretch>
        </p:blipFill>
        <p:spPr>
          <a:xfrm>
            <a:off x="4246474" y="2600554"/>
            <a:ext cx="285293" cy="285293"/>
          </a:xfrm>
          <a:prstGeom prst="rect">
            <a:avLst/>
          </a:prstGeom>
        </p:spPr>
      </p:pic>
      <p:sp>
        <p:nvSpPr>
          <p:cNvPr id="13" name="Text 9"/>
          <p:cNvSpPr txBox="1"/>
          <p:nvPr/>
        </p:nvSpPr>
        <p:spPr>
          <a:xfrm>
            <a:off x="4846320" y="2423160"/>
            <a:ext cx="3566160" cy="274320"/>
          </a:xfrm>
          <a:prstGeom prst="rect">
            <a:avLst/>
          </a:prstGeom>
          <a:noFill/>
          <a:ln/>
        </p:spPr>
        <p:txBody>
          <a:bodyPr wrap="square" lIns="0" tIns="0" rIns="0" bIns="0" rtlCol="0" anchor="t"/>
          <a:lstStyle/>
          <a:p>
            <a:pPr marL="0" indent="0">
              <a:buNone/>
            </a:pPr>
            <a:r>
              <a:rPr lang="en-US" sz="1500" b="1" dirty="0">
                <a:solidFill>
                  <a:schemeClr val="tx1"/>
                </a:solidFill>
                <a:latin typeface="+mj-lt" pitchFamily="34" charset="0"/>
                <a:ea typeface="+mj-lt" pitchFamily="34" charset="-122"/>
                <a:cs typeface="+mj-lt" pitchFamily="34" charset="-120"/>
              </a:rPr>
              <a:t>Missing context</a:t>
            </a:r>
            <a:endParaRPr lang="en-US" sz="1500" dirty="0"/>
          </a:p>
        </p:txBody>
      </p:sp>
      <p:sp>
        <p:nvSpPr>
          <p:cNvPr id="14" name="Text 10"/>
          <p:cNvSpPr txBox="1"/>
          <p:nvPr/>
        </p:nvSpPr>
        <p:spPr>
          <a:xfrm>
            <a:off x="4846320" y="2715768"/>
            <a:ext cx="3566160" cy="411480"/>
          </a:xfrm>
          <a:prstGeom prst="rect">
            <a:avLst/>
          </a:prstGeom>
          <a:noFill/>
          <a:ln/>
        </p:spPr>
        <p:txBody>
          <a:bodyPr wrap="square" lIns="0" tIns="0" rIns="0" bIns="0" rtlCol="0" anchor="t"/>
          <a:lstStyle/>
          <a:p>
            <a:pPr marL="0" indent="0">
              <a:buNone/>
            </a:pPr>
            <a:r>
              <a:rPr lang="en-US" sz="1200" dirty="0">
                <a:solidFill>
                  <a:schemeClr val="tx2"/>
                </a:solidFill>
              </a:rPr>
              <a:t>A difficult day is hard to connect to what actually happened around it.</a:t>
            </a:r>
            <a:endParaRPr lang="en-US" sz="1200" dirty="0"/>
          </a:p>
        </p:txBody>
      </p:sp>
      <p:sp>
        <p:nvSpPr>
          <p:cNvPr id="15" name="Problem card 3"/>
          <p:cNvSpPr/>
          <p:nvPr/>
        </p:nvSpPr>
        <p:spPr>
          <a:xfrm>
            <a:off x="3931920" y="3383280"/>
            <a:ext cx="4663440" cy="914400"/>
          </a:xfrm>
          <a:prstGeom prst="roundRect">
            <a:avLst>
              <a:gd name="adj" fmla="val 14000"/>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16" name="Icon circle LuLock"/>
          <p:cNvSpPr/>
          <p:nvPr/>
        </p:nvSpPr>
        <p:spPr>
          <a:xfrm>
            <a:off x="4114800" y="3566160"/>
            <a:ext cx="548640" cy="548640"/>
          </a:xfrm>
          <a:prstGeom prst="ellipse">
            <a:avLst/>
          </a:prstGeom>
          <a:solidFill>
            <a:schemeClr val="accent1"/>
          </a:solidFill>
          <a:ln/>
        </p:spPr>
        <p:txBody>
          <a:bodyPr/>
          <a:lstStyle/>
          <a:p>
            <a:endParaRPr lang="en-US"/>
          </a:p>
        </p:txBody>
      </p:sp>
      <p:pic>
        <p:nvPicPr>
          <p:cNvPr id="17" name="Image 2" descr="Lock icon"/>
          <p:cNvPicPr>
            <a:picLocks noChangeAspect="1"/>
          </p:cNvPicPr>
          <p:nvPr/>
        </p:nvPicPr>
        <p:blipFill>
          <a:blip r:embed="rId5"/>
          <a:stretch>
            <a:fillRect/>
          </a:stretch>
        </p:blipFill>
        <p:spPr>
          <a:xfrm>
            <a:off x="4246474" y="3697834"/>
            <a:ext cx="285293" cy="285293"/>
          </a:xfrm>
          <a:prstGeom prst="rect">
            <a:avLst/>
          </a:prstGeom>
        </p:spPr>
      </p:pic>
      <p:sp>
        <p:nvSpPr>
          <p:cNvPr id="18" name="Text 13"/>
          <p:cNvSpPr txBox="1"/>
          <p:nvPr/>
        </p:nvSpPr>
        <p:spPr>
          <a:xfrm>
            <a:off x="4846320" y="3520440"/>
            <a:ext cx="3566160" cy="274320"/>
          </a:xfrm>
          <a:prstGeom prst="rect">
            <a:avLst/>
          </a:prstGeom>
          <a:noFill/>
          <a:ln/>
        </p:spPr>
        <p:txBody>
          <a:bodyPr wrap="square" lIns="0" tIns="0" rIns="0" bIns="0" rtlCol="0" anchor="t"/>
          <a:lstStyle/>
          <a:p>
            <a:pPr marL="0" indent="0">
              <a:buNone/>
            </a:pPr>
            <a:r>
              <a:rPr lang="en-US" sz="1500" b="1" dirty="0">
                <a:solidFill>
                  <a:schemeClr val="tx1"/>
                </a:solidFill>
                <a:latin typeface="+mj-lt" pitchFamily="34" charset="0"/>
                <a:ea typeface="+mj-lt" pitchFamily="34" charset="-122"/>
                <a:cs typeface="+mj-lt" pitchFamily="34" charset="-120"/>
              </a:rPr>
              <a:t>Support feels exposed</a:t>
            </a:r>
            <a:endParaRPr lang="en-US" sz="1500" dirty="0"/>
          </a:p>
        </p:txBody>
      </p:sp>
      <p:sp>
        <p:nvSpPr>
          <p:cNvPr id="19" name="Text 14"/>
          <p:cNvSpPr txBox="1"/>
          <p:nvPr/>
        </p:nvSpPr>
        <p:spPr>
          <a:xfrm>
            <a:off x="4846320" y="3813048"/>
            <a:ext cx="3566160" cy="411480"/>
          </a:xfrm>
          <a:prstGeom prst="rect">
            <a:avLst/>
          </a:prstGeom>
          <a:noFill/>
          <a:ln/>
        </p:spPr>
        <p:txBody>
          <a:bodyPr wrap="square" lIns="0" tIns="0" rIns="0" bIns="0" rtlCol="0" anchor="t"/>
          <a:lstStyle/>
          <a:p>
            <a:pPr marL="0" indent="0">
              <a:buNone/>
            </a:pPr>
            <a:r>
              <a:rPr lang="en-US" sz="1200" dirty="0">
                <a:solidFill>
                  <a:schemeClr val="tx2"/>
                </a:solidFill>
              </a:rPr>
              <a:t>Peer support raises privacy and moderation worries about journals and account details.</a:t>
            </a:r>
            <a:endParaRPr lang="en-US" sz="1200" dirty="0"/>
          </a:p>
        </p:txBody>
      </p:sp>
      <p:sp>
        <p:nvSpPr>
          <p:cNvPr id="25" name="Slide Number Placeholder 0"/>
          <p:cNvSpPr>
            <a:spLocks noGrp="1"/>
          </p:cNvSpPr>
          <p:nvPr>
            <p:ph type="sldNum" sz="quarter" idx="4294967295"/>
          </p:nvPr>
        </p:nvSpPr>
        <p:spPr>
          <a:xfrm>
            <a:off x="548640" y="4736592"/>
            <a:ext cx="45720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548640" y="320040"/>
            <a:ext cx="7223760" cy="685800"/>
          </a:xfrm>
          <a:prstGeom prst="rect">
            <a:avLst/>
          </a:prstGeom>
          <a:noFill/>
          <a:ln/>
        </p:spPr>
        <p:txBody>
          <a:bodyPr wrap="square" lIns="0" tIns="0" rIns="0" bIns="0" rtlCol="0" anchor="ctr"/>
          <a:lstStyle/>
          <a:p>
            <a:pPr marL="0" indent="0" algn="l">
              <a:buNone/>
            </a:pPr>
            <a:r>
              <a:rPr lang="en-US" sz="3000" b="1" dirty="0">
                <a:solidFill>
                  <a:schemeClr val="tx1"/>
                </a:solidFill>
              </a:rPr>
              <a:t>One gentle place for every need</a:t>
            </a:r>
            <a:endParaRPr lang="en-US" sz="3000" dirty="0"/>
          </a:p>
        </p:txBody>
      </p:sp>
      <p:sp>
        <p:nvSpPr>
          <p:cNvPr id="3" name="Icon circle LuSmile"/>
          <p:cNvSpPr/>
          <p:nvPr/>
        </p:nvSpPr>
        <p:spPr>
          <a:xfrm>
            <a:off x="548640" y="1179576"/>
            <a:ext cx="475488" cy="475488"/>
          </a:xfrm>
          <a:prstGeom prst="ellipse">
            <a:avLst/>
          </a:prstGeom>
          <a:solidFill>
            <a:schemeClr val="accent1"/>
          </a:solidFill>
          <a:ln/>
        </p:spPr>
        <p:txBody>
          <a:bodyPr/>
          <a:lstStyle/>
          <a:p>
            <a:endParaRPr lang="en-US"/>
          </a:p>
        </p:txBody>
      </p:sp>
      <p:pic>
        <p:nvPicPr>
          <p:cNvPr id="4" name="Image 0" descr="Smile icon"/>
          <p:cNvPicPr>
            <a:picLocks noChangeAspect="1"/>
          </p:cNvPicPr>
          <p:nvPr/>
        </p:nvPicPr>
        <p:blipFill>
          <a:blip r:embed="rId3"/>
          <a:stretch>
            <a:fillRect/>
          </a:stretch>
        </p:blipFill>
        <p:spPr>
          <a:xfrm>
            <a:off x="662757" y="1293693"/>
            <a:ext cx="247254" cy="247254"/>
          </a:xfrm>
          <a:prstGeom prst="rect">
            <a:avLst/>
          </a:prstGeom>
        </p:spPr>
      </p:pic>
      <p:sp>
        <p:nvSpPr>
          <p:cNvPr id="5" name="Issue pill 1"/>
          <p:cNvSpPr/>
          <p:nvPr/>
        </p:nvSpPr>
        <p:spPr>
          <a:xfrm>
            <a:off x="1188720" y="1143000"/>
            <a:ext cx="2651760" cy="548640"/>
          </a:xfrm>
          <a:prstGeom prst="roundRect">
            <a:avLst>
              <a:gd name="adj" fmla="val 50000"/>
            </a:avLst>
          </a:prstGeom>
          <a:solidFill>
            <a:schemeClr val="bg2"/>
          </a:solidFill>
          <a:ln/>
        </p:spPr>
        <p:txBody>
          <a:bodyPr/>
          <a:lstStyle/>
          <a:p>
            <a:endParaRPr lang="en-US"/>
          </a:p>
        </p:txBody>
      </p:sp>
      <p:sp>
        <p:nvSpPr>
          <p:cNvPr id="6" name="Text 3"/>
          <p:cNvSpPr txBox="1"/>
          <p:nvPr/>
        </p:nvSpPr>
        <p:spPr>
          <a:xfrm>
            <a:off x="1325880" y="1143000"/>
            <a:ext cx="2423160" cy="548640"/>
          </a:xfrm>
          <a:prstGeom prst="rect">
            <a:avLst/>
          </a:prstGeom>
          <a:noFill/>
          <a:ln/>
        </p:spPr>
        <p:txBody>
          <a:bodyPr wrap="square" lIns="0" tIns="0" rIns="0" bIns="0" rtlCol="0" anchor="ctr"/>
          <a:lstStyle/>
          <a:p>
            <a:pPr marL="0" indent="0">
              <a:buNone/>
            </a:pPr>
            <a:r>
              <a:rPr lang="en-US" sz="1300" b="1" dirty="0">
                <a:solidFill>
                  <a:schemeClr val="tx1"/>
                </a:solidFill>
              </a:rPr>
              <a:t>Inconsistent tracking</a:t>
            </a:r>
            <a:endParaRPr lang="en-US" sz="1300" dirty="0"/>
          </a:p>
        </p:txBody>
      </p:sp>
      <p:pic>
        <p:nvPicPr>
          <p:cNvPr id="7" name="Image 1" descr="arrow"/>
          <p:cNvPicPr>
            <a:picLocks noChangeAspect="1"/>
          </p:cNvPicPr>
          <p:nvPr/>
        </p:nvPicPr>
        <p:blipFill>
          <a:blip r:embed="rId4"/>
          <a:stretch>
            <a:fillRect/>
          </a:stretch>
        </p:blipFill>
        <p:spPr>
          <a:xfrm>
            <a:off x="3977640" y="1298448"/>
            <a:ext cx="237744" cy="237744"/>
          </a:xfrm>
          <a:prstGeom prst="rect">
            <a:avLst/>
          </a:prstGeom>
        </p:spPr>
      </p:pic>
      <p:sp>
        <p:nvSpPr>
          <p:cNvPr id="8" name="Response card 1"/>
          <p:cNvSpPr/>
          <p:nvPr/>
        </p:nvSpPr>
        <p:spPr>
          <a:xfrm>
            <a:off x="4389120" y="1143000"/>
            <a:ext cx="4206240" cy="548640"/>
          </a:xfrm>
          <a:prstGeom prst="roundRect">
            <a:avLst>
              <a:gd name="adj" fmla="val 23333"/>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9" name="Text 5"/>
          <p:cNvSpPr txBox="1"/>
          <p:nvPr/>
        </p:nvSpPr>
        <p:spPr>
          <a:xfrm>
            <a:off x="4526280" y="1143000"/>
            <a:ext cx="3977640" cy="548640"/>
          </a:xfrm>
          <a:prstGeom prst="rect">
            <a:avLst/>
          </a:prstGeom>
          <a:noFill/>
          <a:ln/>
        </p:spPr>
        <p:txBody>
          <a:bodyPr wrap="square" lIns="0" tIns="0" rIns="0" bIns="0" rtlCol="0" anchor="ctr"/>
          <a:lstStyle/>
          <a:p>
            <a:pPr marL="0" indent="0">
              <a:buNone/>
            </a:pPr>
            <a:r>
              <a:rPr lang="en-US" sz="1200" dirty="0">
                <a:solidFill>
                  <a:schemeClr val="tx1"/>
                </a:solidFill>
              </a:rPr>
              <a:t>Daily check-in on a five-emotion scale, with history, charts, and a monthly calendar</a:t>
            </a:r>
            <a:endParaRPr lang="en-US" sz="1200" dirty="0"/>
          </a:p>
        </p:txBody>
      </p:sp>
      <p:sp>
        <p:nvSpPr>
          <p:cNvPr id="10" name="Icon circle LuBookOpen"/>
          <p:cNvSpPr/>
          <p:nvPr/>
        </p:nvSpPr>
        <p:spPr>
          <a:xfrm>
            <a:off x="548640" y="1847088"/>
            <a:ext cx="475488" cy="475488"/>
          </a:xfrm>
          <a:prstGeom prst="ellipse">
            <a:avLst/>
          </a:prstGeom>
          <a:solidFill>
            <a:schemeClr val="accent1"/>
          </a:solidFill>
          <a:ln/>
        </p:spPr>
        <p:txBody>
          <a:bodyPr/>
          <a:lstStyle/>
          <a:p>
            <a:endParaRPr lang="en-US"/>
          </a:p>
        </p:txBody>
      </p:sp>
      <p:pic>
        <p:nvPicPr>
          <p:cNvPr id="11" name="Image 2" descr="BookOpen icon"/>
          <p:cNvPicPr>
            <a:picLocks noChangeAspect="1"/>
          </p:cNvPicPr>
          <p:nvPr/>
        </p:nvPicPr>
        <p:blipFill>
          <a:blip r:embed="rId5"/>
          <a:stretch>
            <a:fillRect/>
          </a:stretch>
        </p:blipFill>
        <p:spPr>
          <a:xfrm>
            <a:off x="662757" y="1961205"/>
            <a:ext cx="247254" cy="247254"/>
          </a:xfrm>
          <a:prstGeom prst="rect">
            <a:avLst/>
          </a:prstGeom>
        </p:spPr>
      </p:pic>
      <p:sp>
        <p:nvSpPr>
          <p:cNvPr id="12" name="Issue pill 2"/>
          <p:cNvSpPr/>
          <p:nvPr/>
        </p:nvSpPr>
        <p:spPr>
          <a:xfrm>
            <a:off x="1188720" y="1810512"/>
            <a:ext cx="2651760" cy="548640"/>
          </a:xfrm>
          <a:prstGeom prst="roundRect">
            <a:avLst>
              <a:gd name="adj" fmla="val 50000"/>
            </a:avLst>
          </a:prstGeom>
          <a:solidFill>
            <a:schemeClr val="bg2"/>
          </a:solidFill>
          <a:ln/>
        </p:spPr>
        <p:txBody>
          <a:bodyPr/>
          <a:lstStyle/>
          <a:p>
            <a:endParaRPr lang="en-US"/>
          </a:p>
        </p:txBody>
      </p:sp>
      <p:sp>
        <p:nvSpPr>
          <p:cNvPr id="13" name="Text 8"/>
          <p:cNvSpPr txBox="1"/>
          <p:nvPr/>
        </p:nvSpPr>
        <p:spPr>
          <a:xfrm>
            <a:off x="1325880" y="1810512"/>
            <a:ext cx="2423160" cy="548640"/>
          </a:xfrm>
          <a:prstGeom prst="rect">
            <a:avLst/>
          </a:prstGeom>
          <a:noFill/>
          <a:ln/>
        </p:spPr>
        <p:txBody>
          <a:bodyPr wrap="square" lIns="0" tIns="0" rIns="0" bIns="0" rtlCol="0" anchor="ctr"/>
          <a:lstStyle/>
          <a:p>
            <a:pPr marL="0" indent="0">
              <a:buNone/>
            </a:pPr>
            <a:r>
              <a:rPr lang="en-US" sz="1300" b="1" dirty="0">
                <a:solidFill>
                  <a:schemeClr val="tx1"/>
                </a:solidFill>
              </a:rPr>
              <a:t>Mood scores lack context</a:t>
            </a:r>
            <a:endParaRPr lang="en-US" sz="1300" dirty="0"/>
          </a:p>
        </p:txBody>
      </p:sp>
      <p:pic>
        <p:nvPicPr>
          <p:cNvPr id="14" name="Image 3" descr="arrow"/>
          <p:cNvPicPr>
            <a:picLocks noChangeAspect="1"/>
          </p:cNvPicPr>
          <p:nvPr/>
        </p:nvPicPr>
        <p:blipFill>
          <a:blip r:embed="rId4"/>
          <a:stretch>
            <a:fillRect/>
          </a:stretch>
        </p:blipFill>
        <p:spPr>
          <a:xfrm>
            <a:off x="3977640" y="1965960"/>
            <a:ext cx="237744" cy="237744"/>
          </a:xfrm>
          <a:prstGeom prst="rect">
            <a:avLst/>
          </a:prstGeom>
        </p:spPr>
      </p:pic>
      <p:sp>
        <p:nvSpPr>
          <p:cNvPr id="15" name="Response card 2"/>
          <p:cNvSpPr/>
          <p:nvPr/>
        </p:nvSpPr>
        <p:spPr>
          <a:xfrm>
            <a:off x="4389120" y="1810512"/>
            <a:ext cx="4206240" cy="548640"/>
          </a:xfrm>
          <a:prstGeom prst="roundRect">
            <a:avLst>
              <a:gd name="adj" fmla="val 23333"/>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16" name="Text 10"/>
          <p:cNvSpPr txBox="1"/>
          <p:nvPr/>
        </p:nvSpPr>
        <p:spPr>
          <a:xfrm>
            <a:off x="4526280" y="1810512"/>
            <a:ext cx="3977640" cy="548640"/>
          </a:xfrm>
          <a:prstGeom prst="rect">
            <a:avLst/>
          </a:prstGeom>
          <a:noFill/>
          <a:ln/>
        </p:spPr>
        <p:txBody>
          <a:bodyPr wrap="square" lIns="0" tIns="0" rIns="0" bIns="0" rtlCol="0" anchor="ctr"/>
          <a:lstStyle/>
          <a:p>
            <a:pPr marL="0" indent="0">
              <a:buNone/>
            </a:pPr>
            <a:r>
              <a:rPr lang="en-US" sz="1200" dirty="0">
                <a:solidFill>
                  <a:schemeClr val="tx1"/>
                </a:solidFill>
              </a:rPr>
              <a:t>Private journal entries to record experiences and the feelings behind them</a:t>
            </a:r>
            <a:endParaRPr lang="en-US" sz="1200" dirty="0"/>
          </a:p>
        </p:txBody>
      </p:sp>
      <p:sp>
        <p:nvSpPr>
          <p:cNvPr id="17" name="Icon circle LuTrendingUp"/>
          <p:cNvSpPr/>
          <p:nvPr/>
        </p:nvSpPr>
        <p:spPr>
          <a:xfrm>
            <a:off x="548640" y="2514600"/>
            <a:ext cx="475488" cy="475488"/>
          </a:xfrm>
          <a:prstGeom prst="ellipse">
            <a:avLst/>
          </a:prstGeom>
          <a:solidFill>
            <a:schemeClr val="accent1"/>
          </a:solidFill>
          <a:ln/>
        </p:spPr>
        <p:txBody>
          <a:bodyPr/>
          <a:lstStyle/>
          <a:p>
            <a:endParaRPr lang="en-US"/>
          </a:p>
        </p:txBody>
      </p:sp>
      <p:pic>
        <p:nvPicPr>
          <p:cNvPr id="18" name="Image 4" descr="TrendingUp icon"/>
          <p:cNvPicPr>
            <a:picLocks noChangeAspect="1"/>
          </p:cNvPicPr>
          <p:nvPr/>
        </p:nvPicPr>
        <p:blipFill>
          <a:blip r:embed="rId6"/>
          <a:stretch>
            <a:fillRect/>
          </a:stretch>
        </p:blipFill>
        <p:spPr>
          <a:xfrm>
            <a:off x="662757" y="2628717"/>
            <a:ext cx="247254" cy="247254"/>
          </a:xfrm>
          <a:prstGeom prst="rect">
            <a:avLst/>
          </a:prstGeom>
        </p:spPr>
      </p:pic>
      <p:sp>
        <p:nvSpPr>
          <p:cNvPr id="19" name="Issue pill 3"/>
          <p:cNvSpPr/>
          <p:nvPr/>
        </p:nvSpPr>
        <p:spPr>
          <a:xfrm>
            <a:off x="1188720" y="2478024"/>
            <a:ext cx="2651760" cy="548640"/>
          </a:xfrm>
          <a:prstGeom prst="roundRect">
            <a:avLst>
              <a:gd name="adj" fmla="val 50000"/>
            </a:avLst>
          </a:prstGeom>
          <a:solidFill>
            <a:schemeClr val="bg2"/>
          </a:solidFill>
          <a:ln/>
        </p:spPr>
        <p:txBody>
          <a:bodyPr/>
          <a:lstStyle/>
          <a:p>
            <a:endParaRPr lang="en-US"/>
          </a:p>
        </p:txBody>
      </p:sp>
      <p:sp>
        <p:nvSpPr>
          <p:cNvPr id="20" name="Text 13"/>
          <p:cNvSpPr txBox="1"/>
          <p:nvPr/>
        </p:nvSpPr>
        <p:spPr>
          <a:xfrm>
            <a:off x="1325880" y="2478024"/>
            <a:ext cx="2423160" cy="548640"/>
          </a:xfrm>
          <a:prstGeom prst="rect">
            <a:avLst/>
          </a:prstGeom>
          <a:noFill/>
          <a:ln/>
        </p:spPr>
        <p:txBody>
          <a:bodyPr wrap="square" lIns="0" tIns="0" rIns="0" bIns="0" rtlCol="0" anchor="ctr"/>
          <a:lstStyle/>
          <a:p>
            <a:pPr marL="0" indent="0">
              <a:buNone/>
            </a:pPr>
            <a:r>
              <a:rPr lang="en-US" sz="1300" b="1" dirty="0">
                <a:solidFill>
                  <a:schemeClr val="tx1"/>
                </a:solidFill>
              </a:rPr>
              <a:t>Patterns are hard to notice</a:t>
            </a:r>
            <a:endParaRPr lang="en-US" sz="1300" dirty="0"/>
          </a:p>
        </p:txBody>
      </p:sp>
      <p:pic>
        <p:nvPicPr>
          <p:cNvPr id="21" name="Image 5" descr="arrow"/>
          <p:cNvPicPr>
            <a:picLocks noChangeAspect="1"/>
          </p:cNvPicPr>
          <p:nvPr/>
        </p:nvPicPr>
        <p:blipFill>
          <a:blip r:embed="rId4"/>
          <a:stretch>
            <a:fillRect/>
          </a:stretch>
        </p:blipFill>
        <p:spPr>
          <a:xfrm>
            <a:off x="3977640" y="2633472"/>
            <a:ext cx="237744" cy="237744"/>
          </a:xfrm>
          <a:prstGeom prst="rect">
            <a:avLst/>
          </a:prstGeom>
        </p:spPr>
      </p:pic>
      <p:sp>
        <p:nvSpPr>
          <p:cNvPr id="22" name="Response card 3"/>
          <p:cNvSpPr/>
          <p:nvPr/>
        </p:nvSpPr>
        <p:spPr>
          <a:xfrm>
            <a:off x="4389120" y="2478024"/>
            <a:ext cx="4206240" cy="548640"/>
          </a:xfrm>
          <a:prstGeom prst="roundRect">
            <a:avLst>
              <a:gd name="adj" fmla="val 23333"/>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23" name="Text 15"/>
          <p:cNvSpPr txBox="1"/>
          <p:nvPr/>
        </p:nvSpPr>
        <p:spPr>
          <a:xfrm>
            <a:off x="4526280" y="2478024"/>
            <a:ext cx="3977640" cy="548640"/>
          </a:xfrm>
          <a:prstGeom prst="rect">
            <a:avLst/>
          </a:prstGeom>
          <a:noFill/>
          <a:ln/>
        </p:spPr>
        <p:txBody>
          <a:bodyPr wrap="square" lIns="0" tIns="0" rIns="0" bIns="0" rtlCol="0" anchor="ctr"/>
          <a:lstStyle/>
          <a:p>
            <a:pPr marL="0" indent="0">
              <a:buNone/>
            </a:pPr>
            <a:r>
              <a:rPr lang="en-US" sz="1200" dirty="0">
                <a:solidFill>
                  <a:schemeClr val="tx1"/>
                </a:solidFill>
              </a:rPr>
              <a:t>Historical </a:t>
            </a:r>
            <a:r>
              <a:rPr lang="en-US" sz="1200" dirty="0"/>
              <a:t>glance of your check-ins</a:t>
            </a:r>
          </a:p>
        </p:txBody>
      </p:sp>
      <p:sp>
        <p:nvSpPr>
          <p:cNvPr id="24" name="Icon circle LuMessagesSquare"/>
          <p:cNvSpPr/>
          <p:nvPr/>
        </p:nvSpPr>
        <p:spPr>
          <a:xfrm>
            <a:off x="548640" y="3182112"/>
            <a:ext cx="475488" cy="475488"/>
          </a:xfrm>
          <a:prstGeom prst="ellipse">
            <a:avLst/>
          </a:prstGeom>
          <a:solidFill>
            <a:schemeClr val="accent1"/>
          </a:solidFill>
          <a:ln/>
        </p:spPr>
        <p:txBody>
          <a:bodyPr/>
          <a:lstStyle/>
          <a:p>
            <a:endParaRPr lang="en-US"/>
          </a:p>
        </p:txBody>
      </p:sp>
      <p:pic>
        <p:nvPicPr>
          <p:cNvPr id="25" name="Image 6" descr="MessagesSquare icon"/>
          <p:cNvPicPr>
            <a:picLocks noChangeAspect="1"/>
          </p:cNvPicPr>
          <p:nvPr/>
        </p:nvPicPr>
        <p:blipFill>
          <a:blip r:embed="rId7"/>
          <a:stretch>
            <a:fillRect/>
          </a:stretch>
        </p:blipFill>
        <p:spPr>
          <a:xfrm>
            <a:off x="662757" y="3296229"/>
            <a:ext cx="247254" cy="247254"/>
          </a:xfrm>
          <a:prstGeom prst="rect">
            <a:avLst/>
          </a:prstGeom>
        </p:spPr>
      </p:pic>
      <p:sp>
        <p:nvSpPr>
          <p:cNvPr id="26" name="Issue pill 4"/>
          <p:cNvSpPr/>
          <p:nvPr/>
        </p:nvSpPr>
        <p:spPr>
          <a:xfrm>
            <a:off x="1188720" y="3145536"/>
            <a:ext cx="2651760" cy="548640"/>
          </a:xfrm>
          <a:prstGeom prst="roundRect">
            <a:avLst>
              <a:gd name="adj" fmla="val 50000"/>
            </a:avLst>
          </a:prstGeom>
          <a:solidFill>
            <a:schemeClr val="bg2"/>
          </a:solidFill>
          <a:ln/>
        </p:spPr>
        <p:txBody>
          <a:bodyPr/>
          <a:lstStyle/>
          <a:p>
            <a:endParaRPr lang="en-US"/>
          </a:p>
        </p:txBody>
      </p:sp>
      <p:sp>
        <p:nvSpPr>
          <p:cNvPr id="27" name="Text 18"/>
          <p:cNvSpPr txBox="1"/>
          <p:nvPr/>
        </p:nvSpPr>
        <p:spPr>
          <a:xfrm>
            <a:off x="1325880" y="3145536"/>
            <a:ext cx="2423160" cy="548640"/>
          </a:xfrm>
          <a:prstGeom prst="rect">
            <a:avLst/>
          </a:prstGeom>
          <a:noFill/>
          <a:ln/>
        </p:spPr>
        <p:txBody>
          <a:bodyPr wrap="square" lIns="0" tIns="0" rIns="0" bIns="0" rtlCol="0" anchor="ctr"/>
          <a:lstStyle/>
          <a:p>
            <a:pPr marL="0" indent="0">
              <a:buNone/>
            </a:pPr>
            <a:r>
              <a:rPr lang="en-US" sz="1300" b="1" dirty="0">
                <a:solidFill>
                  <a:schemeClr val="tx1"/>
                </a:solidFill>
              </a:rPr>
              <a:t>Wanting to talk and connect</a:t>
            </a:r>
            <a:endParaRPr lang="en-US" sz="1300" dirty="0"/>
          </a:p>
        </p:txBody>
      </p:sp>
      <p:pic>
        <p:nvPicPr>
          <p:cNvPr id="28" name="Image 7" descr="arrow"/>
          <p:cNvPicPr>
            <a:picLocks noChangeAspect="1"/>
          </p:cNvPicPr>
          <p:nvPr/>
        </p:nvPicPr>
        <p:blipFill>
          <a:blip r:embed="rId4"/>
          <a:stretch>
            <a:fillRect/>
          </a:stretch>
        </p:blipFill>
        <p:spPr>
          <a:xfrm>
            <a:off x="3977640" y="3300984"/>
            <a:ext cx="237744" cy="237744"/>
          </a:xfrm>
          <a:prstGeom prst="rect">
            <a:avLst/>
          </a:prstGeom>
        </p:spPr>
      </p:pic>
      <p:sp>
        <p:nvSpPr>
          <p:cNvPr id="29" name="Response card 4"/>
          <p:cNvSpPr/>
          <p:nvPr/>
        </p:nvSpPr>
        <p:spPr>
          <a:xfrm>
            <a:off x="4389120" y="3145536"/>
            <a:ext cx="4206240" cy="548640"/>
          </a:xfrm>
          <a:prstGeom prst="roundRect">
            <a:avLst>
              <a:gd name="adj" fmla="val 23333"/>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30" name="Text 20"/>
          <p:cNvSpPr txBox="1"/>
          <p:nvPr/>
        </p:nvSpPr>
        <p:spPr>
          <a:xfrm>
            <a:off x="4526280" y="3145536"/>
            <a:ext cx="3977640" cy="548640"/>
          </a:xfrm>
          <a:prstGeom prst="rect">
            <a:avLst/>
          </a:prstGeom>
          <a:noFill/>
          <a:ln/>
        </p:spPr>
        <p:txBody>
          <a:bodyPr wrap="square" lIns="0" tIns="0" rIns="0" bIns="0" rtlCol="0" anchor="ctr"/>
          <a:lstStyle/>
          <a:p>
            <a:pPr marL="0" indent="0">
              <a:buNone/>
            </a:pPr>
            <a:r>
              <a:rPr lang="en-US" sz="1200" dirty="0">
                <a:solidFill>
                  <a:schemeClr val="tx1"/>
                </a:solidFill>
              </a:rPr>
              <a:t>An AI companion, plus member-only circle feeds and live chat</a:t>
            </a:r>
            <a:endParaRPr lang="en-US" sz="1200" dirty="0"/>
          </a:p>
        </p:txBody>
      </p:sp>
      <p:sp>
        <p:nvSpPr>
          <p:cNvPr id="31" name="Icon circle LuShieldCheck"/>
          <p:cNvSpPr/>
          <p:nvPr/>
        </p:nvSpPr>
        <p:spPr>
          <a:xfrm>
            <a:off x="548640" y="3849624"/>
            <a:ext cx="475488" cy="475488"/>
          </a:xfrm>
          <a:prstGeom prst="ellipse">
            <a:avLst/>
          </a:prstGeom>
          <a:solidFill>
            <a:schemeClr val="accent1"/>
          </a:solidFill>
          <a:ln/>
        </p:spPr>
        <p:txBody>
          <a:bodyPr/>
          <a:lstStyle/>
          <a:p>
            <a:endParaRPr lang="en-US"/>
          </a:p>
        </p:txBody>
      </p:sp>
      <p:pic>
        <p:nvPicPr>
          <p:cNvPr id="32" name="Image 8" descr="ShieldCheck icon"/>
          <p:cNvPicPr>
            <a:picLocks noChangeAspect="1"/>
          </p:cNvPicPr>
          <p:nvPr/>
        </p:nvPicPr>
        <p:blipFill>
          <a:blip r:embed="rId8"/>
          <a:stretch>
            <a:fillRect/>
          </a:stretch>
        </p:blipFill>
        <p:spPr>
          <a:xfrm>
            <a:off x="662757" y="3963741"/>
            <a:ext cx="247254" cy="247254"/>
          </a:xfrm>
          <a:prstGeom prst="rect">
            <a:avLst/>
          </a:prstGeom>
        </p:spPr>
      </p:pic>
      <p:sp>
        <p:nvSpPr>
          <p:cNvPr id="33" name="Issue pill 5"/>
          <p:cNvSpPr/>
          <p:nvPr/>
        </p:nvSpPr>
        <p:spPr>
          <a:xfrm>
            <a:off x="1188720" y="3813048"/>
            <a:ext cx="2651760" cy="548640"/>
          </a:xfrm>
          <a:prstGeom prst="roundRect">
            <a:avLst>
              <a:gd name="adj" fmla="val 50000"/>
            </a:avLst>
          </a:prstGeom>
          <a:solidFill>
            <a:schemeClr val="bg2"/>
          </a:solidFill>
          <a:ln/>
        </p:spPr>
        <p:txBody>
          <a:bodyPr/>
          <a:lstStyle/>
          <a:p>
            <a:endParaRPr lang="en-US"/>
          </a:p>
        </p:txBody>
      </p:sp>
      <p:sp>
        <p:nvSpPr>
          <p:cNvPr id="34" name="Text 23"/>
          <p:cNvSpPr txBox="1"/>
          <p:nvPr/>
        </p:nvSpPr>
        <p:spPr>
          <a:xfrm>
            <a:off x="1325880" y="3813048"/>
            <a:ext cx="2423160" cy="548640"/>
          </a:xfrm>
          <a:prstGeom prst="rect">
            <a:avLst/>
          </a:prstGeom>
          <a:noFill/>
          <a:ln/>
        </p:spPr>
        <p:txBody>
          <a:bodyPr wrap="square" lIns="0" tIns="0" rIns="0" bIns="0" rtlCol="0" anchor="ctr"/>
          <a:lstStyle/>
          <a:p>
            <a:pPr marL="0" indent="0">
              <a:buNone/>
            </a:pPr>
            <a:r>
              <a:rPr lang="en-US" sz="1300" b="1" dirty="0">
                <a:solidFill>
                  <a:schemeClr val="tx1"/>
                </a:solidFill>
              </a:rPr>
              <a:t>Privacy and harmful interactions</a:t>
            </a:r>
            <a:endParaRPr lang="en-US" sz="1300" dirty="0"/>
          </a:p>
        </p:txBody>
      </p:sp>
      <p:pic>
        <p:nvPicPr>
          <p:cNvPr id="35" name="Image 9" descr="arrow"/>
          <p:cNvPicPr>
            <a:picLocks noChangeAspect="1"/>
          </p:cNvPicPr>
          <p:nvPr/>
        </p:nvPicPr>
        <p:blipFill>
          <a:blip r:embed="rId4"/>
          <a:stretch>
            <a:fillRect/>
          </a:stretch>
        </p:blipFill>
        <p:spPr>
          <a:xfrm>
            <a:off x="3977640" y="3968496"/>
            <a:ext cx="237744" cy="237744"/>
          </a:xfrm>
          <a:prstGeom prst="rect">
            <a:avLst/>
          </a:prstGeom>
        </p:spPr>
      </p:pic>
      <p:sp>
        <p:nvSpPr>
          <p:cNvPr id="36" name="Response card 5"/>
          <p:cNvSpPr/>
          <p:nvPr/>
        </p:nvSpPr>
        <p:spPr>
          <a:xfrm>
            <a:off x="4389120" y="3813048"/>
            <a:ext cx="4206240" cy="548640"/>
          </a:xfrm>
          <a:prstGeom prst="roundRect">
            <a:avLst>
              <a:gd name="adj" fmla="val 23333"/>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37" name="Text 25"/>
          <p:cNvSpPr txBox="1"/>
          <p:nvPr/>
        </p:nvSpPr>
        <p:spPr>
          <a:xfrm>
            <a:off x="4526280" y="3813048"/>
            <a:ext cx="3977640" cy="548640"/>
          </a:xfrm>
          <a:prstGeom prst="rect">
            <a:avLst/>
          </a:prstGeom>
          <a:noFill/>
          <a:ln/>
        </p:spPr>
        <p:txBody>
          <a:bodyPr wrap="square" lIns="0" tIns="0" rIns="0" bIns="0" rtlCol="0" anchor="ctr"/>
          <a:lstStyle/>
          <a:p>
            <a:pPr marL="0" indent="0">
              <a:buNone/>
            </a:pPr>
            <a:r>
              <a:rPr lang="en-US" sz="1200" dirty="0">
                <a:solidFill>
                  <a:schemeClr val="tx1"/>
                </a:solidFill>
              </a:rPr>
              <a:t>Ownership checks, aliases, membership, reporting, moderation, data controls</a:t>
            </a:r>
            <a:endParaRPr lang="en-US" sz="1200" dirty="0"/>
          </a:p>
        </p:txBody>
      </p:sp>
      <p:sp>
        <p:nvSpPr>
          <p:cNvPr id="38" name="Slide Number Placeholder 0"/>
          <p:cNvSpPr>
            <a:spLocks noGrp="1"/>
          </p:cNvSpPr>
          <p:nvPr>
            <p:ph type="sldNum" sz="quarter" idx="4294967295"/>
          </p:nvPr>
        </p:nvSpPr>
        <p:spPr>
          <a:xfrm>
            <a:off x="548640" y="4736592"/>
            <a:ext cx="45720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731520" y="502920"/>
            <a:ext cx="7680960" cy="731520"/>
          </a:xfrm>
          <a:prstGeom prst="rect">
            <a:avLst/>
          </a:prstGeom>
          <a:noFill/>
          <a:ln/>
        </p:spPr>
        <p:txBody>
          <a:bodyPr wrap="square" lIns="0" tIns="0" rIns="0" bIns="0" rtlCol="0" anchor="ctr"/>
          <a:lstStyle/>
          <a:p>
            <a:pPr marL="0" indent="0" algn="ctr">
              <a:buNone/>
            </a:pPr>
            <a:r>
              <a:rPr lang="en-US" sz="3200" b="1" dirty="0">
                <a:solidFill>
                  <a:schemeClr val="tx1"/>
                </a:solidFill>
              </a:rPr>
              <a:t>Where the name comes from</a:t>
            </a:r>
            <a:endParaRPr lang="en-US" sz="3200" dirty="0"/>
          </a:p>
        </p:txBody>
      </p:sp>
      <p:sp>
        <p:nvSpPr>
          <p:cNvPr id="3" name="They Feel"/>
          <p:cNvSpPr txBox="1"/>
          <p:nvPr/>
        </p:nvSpPr>
        <p:spPr>
          <a:xfrm>
            <a:off x="914400" y="1463040"/>
            <a:ext cx="3108960" cy="822960"/>
          </a:xfrm>
          <a:prstGeom prst="rect">
            <a:avLst/>
          </a:prstGeom>
          <a:noFill/>
          <a:ln/>
        </p:spPr>
        <p:txBody>
          <a:bodyPr wrap="square" lIns="0" tIns="0" rIns="0" bIns="0" rtlCol="0" anchor="ctr"/>
          <a:lstStyle/>
          <a:p>
            <a:pPr marL="0" indent="0" algn="ctr">
              <a:buNone/>
            </a:pPr>
            <a:r>
              <a:rPr lang="en-US" sz="4400" dirty="0">
                <a:solidFill>
                  <a:schemeClr val="tx2"/>
                </a:solidFill>
                <a:latin typeface="+mj-lt" pitchFamily="34" charset="0"/>
                <a:ea typeface="+mj-lt" pitchFamily="34" charset="-122"/>
                <a:cs typeface="+mj-lt" pitchFamily="34" charset="-120"/>
              </a:rPr>
              <a:t>They Feel</a:t>
            </a:r>
            <a:endParaRPr lang="en-US" sz="4400" dirty="0"/>
          </a:p>
        </p:txBody>
      </p:sp>
      <p:pic>
        <p:nvPicPr>
          <p:cNvPr id="4" name="Image 0" descr="arrow"/>
          <p:cNvPicPr>
            <a:picLocks noChangeAspect="1"/>
          </p:cNvPicPr>
          <p:nvPr/>
        </p:nvPicPr>
        <p:blipFill>
          <a:blip r:embed="rId3"/>
          <a:srcRect/>
          <a:stretch/>
        </p:blipFill>
        <p:spPr>
          <a:xfrm>
            <a:off x="4251960" y="1645920"/>
            <a:ext cx="548640" cy="457200"/>
          </a:xfrm>
          <a:prstGeom prst="rect">
            <a:avLst/>
          </a:prstGeom>
        </p:spPr>
      </p:pic>
      <p:sp>
        <p:nvSpPr>
          <p:cNvPr id="5" name="Day Feel"/>
          <p:cNvSpPr txBox="1"/>
          <p:nvPr/>
        </p:nvSpPr>
        <p:spPr>
          <a:xfrm>
            <a:off x="5029200" y="1463040"/>
            <a:ext cx="3108960" cy="822960"/>
          </a:xfrm>
          <a:prstGeom prst="rect">
            <a:avLst/>
          </a:prstGeom>
          <a:noFill/>
          <a:ln/>
        </p:spPr>
        <p:txBody>
          <a:bodyPr wrap="square" lIns="0" tIns="0" rIns="0" bIns="0" rtlCol="0" anchor="ctr"/>
          <a:lstStyle/>
          <a:p>
            <a:pPr marL="0" indent="0" algn="ctr">
              <a:buNone/>
            </a:pPr>
            <a:r>
              <a:rPr lang="en-US" sz="4400" b="1" dirty="0">
                <a:solidFill>
                  <a:schemeClr val="tx1"/>
                </a:solidFill>
                <a:latin typeface="+mj-lt" pitchFamily="34" charset="0"/>
                <a:ea typeface="+mj-lt" pitchFamily="34" charset="-122"/>
                <a:cs typeface="+mj-lt" pitchFamily="34" charset="-120"/>
              </a:rPr>
              <a:t>Day Feel</a:t>
            </a:r>
            <a:endParaRPr lang="en-US" sz="4400" dirty="0"/>
          </a:p>
        </p:txBody>
      </p:sp>
      <p:sp>
        <p:nvSpPr>
          <p:cNvPr id="6" name="They card"/>
          <p:cNvSpPr/>
          <p:nvPr/>
        </p:nvSpPr>
        <p:spPr>
          <a:xfrm>
            <a:off x="914400" y="2697480"/>
            <a:ext cx="3520440" cy="1600200"/>
          </a:xfrm>
          <a:prstGeom prst="roundRect">
            <a:avLst>
              <a:gd name="adj" fmla="val 8000"/>
            </a:avLst>
          </a:prstGeom>
          <a:solidFill>
            <a:srgbClr val="FFFAF0"/>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7" name="Day card"/>
          <p:cNvSpPr/>
          <p:nvPr/>
        </p:nvSpPr>
        <p:spPr>
          <a:xfrm>
            <a:off x="4709160" y="2697480"/>
            <a:ext cx="3520440" cy="1600200"/>
          </a:xfrm>
          <a:prstGeom prst="roundRect">
            <a:avLst>
              <a:gd name="adj" fmla="val 8000"/>
            </a:avLst>
          </a:prstGeom>
          <a:solidFill>
            <a:srgbClr val="FFFAF0"/>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8" name="Text 5"/>
          <p:cNvSpPr txBox="1"/>
          <p:nvPr/>
        </p:nvSpPr>
        <p:spPr>
          <a:xfrm>
            <a:off x="1143000" y="2852928"/>
            <a:ext cx="3108960" cy="320040"/>
          </a:xfrm>
          <a:prstGeom prst="rect">
            <a:avLst/>
          </a:prstGeom>
          <a:noFill/>
          <a:ln/>
        </p:spPr>
        <p:txBody>
          <a:bodyPr wrap="square" lIns="0" tIns="0" rIns="0" bIns="0" rtlCol="0" anchor="t"/>
          <a:lstStyle/>
          <a:p>
            <a:pPr marL="0" indent="0">
              <a:buNone/>
            </a:pPr>
            <a:r>
              <a:rPr lang="en-US" sz="1600" b="1" dirty="0">
                <a:solidFill>
                  <a:schemeClr val="tx1"/>
                </a:solidFill>
                <a:latin typeface="+mj-lt" pitchFamily="34" charset="0"/>
                <a:ea typeface="+mj-lt" pitchFamily="34" charset="-122"/>
                <a:cs typeface="+mj-lt" pitchFamily="34" charset="-120"/>
              </a:rPr>
              <a:t>Everyone has feelings</a:t>
            </a:r>
            <a:endParaRPr lang="en-US" sz="1600" dirty="0"/>
          </a:p>
        </p:txBody>
      </p:sp>
      <p:sp>
        <p:nvSpPr>
          <p:cNvPr id="9" name="Text 6"/>
          <p:cNvSpPr txBox="1"/>
          <p:nvPr/>
        </p:nvSpPr>
        <p:spPr>
          <a:xfrm>
            <a:off x="1143000" y="3200400"/>
            <a:ext cx="3108960" cy="914400"/>
          </a:xfrm>
          <a:prstGeom prst="rect">
            <a:avLst/>
          </a:prstGeom>
          <a:noFill/>
          <a:ln/>
        </p:spPr>
        <p:txBody>
          <a:bodyPr wrap="square" lIns="0" tIns="0" rIns="0" bIns="0" rtlCol="0" anchor="t"/>
          <a:lstStyle/>
          <a:p>
            <a:pPr marL="0" indent="0">
              <a:buNone/>
            </a:pPr>
            <a:r>
              <a:rPr lang="en-US" sz="1400" dirty="0">
                <a:solidFill>
                  <a:schemeClr val="tx2"/>
                </a:solidFill>
              </a:rPr>
              <a:t>And those feelings deserve to be recognized, without being dismissed or judged.</a:t>
            </a:r>
            <a:endParaRPr lang="en-US" sz="1400" dirty="0"/>
          </a:p>
        </p:txBody>
      </p:sp>
      <p:sp>
        <p:nvSpPr>
          <p:cNvPr id="10" name="Text 7"/>
          <p:cNvSpPr txBox="1"/>
          <p:nvPr/>
        </p:nvSpPr>
        <p:spPr>
          <a:xfrm>
            <a:off x="4937760" y="2852928"/>
            <a:ext cx="3108960" cy="320040"/>
          </a:xfrm>
          <a:prstGeom prst="rect">
            <a:avLst/>
          </a:prstGeom>
          <a:noFill/>
          <a:ln/>
        </p:spPr>
        <p:txBody>
          <a:bodyPr wrap="square" lIns="0" tIns="0" rIns="0" bIns="0" rtlCol="0" anchor="t"/>
          <a:lstStyle/>
          <a:p>
            <a:pPr marL="0" indent="0">
              <a:buNone/>
            </a:pPr>
            <a:r>
              <a:rPr lang="en-US" sz="1600" b="1" dirty="0">
                <a:solidFill>
                  <a:schemeClr val="tx1"/>
                </a:solidFill>
                <a:latin typeface="+mj-lt" pitchFamily="34" charset="0"/>
                <a:ea typeface="+mj-lt" pitchFamily="34" charset="-122"/>
                <a:cs typeface="+mj-lt" pitchFamily="34" charset="-120"/>
              </a:rPr>
              <a:t>Every day is different</a:t>
            </a:r>
            <a:endParaRPr lang="en-US" sz="1600" dirty="0"/>
          </a:p>
        </p:txBody>
      </p:sp>
      <p:sp>
        <p:nvSpPr>
          <p:cNvPr id="11" name="Text 8"/>
          <p:cNvSpPr txBox="1"/>
          <p:nvPr/>
        </p:nvSpPr>
        <p:spPr>
          <a:xfrm>
            <a:off x="4937760" y="3200400"/>
            <a:ext cx="3108960" cy="914400"/>
          </a:xfrm>
          <a:prstGeom prst="rect">
            <a:avLst/>
          </a:prstGeom>
          <a:noFill/>
          <a:ln/>
        </p:spPr>
        <p:txBody>
          <a:bodyPr wrap="square" lIns="0" tIns="0" rIns="0" bIns="0" rtlCol="0" anchor="t"/>
          <a:lstStyle/>
          <a:p>
            <a:pPr marL="0" indent="0">
              <a:buNone/>
            </a:pPr>
            <a:r>
              <a:rPr lang="en-US" sz="1400" dirty="0">
                <a:solidFill>
                  <a:schemeClr val="tx2"/>
                </a:solidFill>
              </a:rPr>
              <a:t>Daily check-ins invite you to pause, acknowledge how you feel, and record it.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548640" y="320040"/>
            <a:ext cx="7223760" cy="685800"/>
          </a:xfrm>
          <a:prstGeom prst="rect">
            <a:avLst/>
          </a:prstGeom>
          <a:noFill/>
          <a:ln/>
        </p:spPr>
        <p:txBody>
          <a:bodyPr wrap="square" lIns="0" tIns="0" rIns="0" bIns="0" rtlCol="0" anchor="ctr"/>
          <a:lstStyle/>
          <a:p>
            <a:pPr marL="0" indent="0" algn="l">
              <a:buNone/>
            </a:pPr>
            <a:r>
              <a:rPr lang="en-US" sz="3000" b="1" dirty="0">
                <a:solidFill>
                  <a:schemeClr val="tx1"/>
                </a:solidFill>
              </a:rPr>
              <a:t>Why yellow? Your “yellow person”</a:t>
            </a:r>
            <a:endParaRPr lang="en-US" sz="3000" dirty="0"/>
          </a:p>
        </p:txBody>
      </p:sp>
      <p:sp>
        <p:nvSpPr>
          <p:cNvPr id="3" name="Quote card"/>
          <p:cNvSpPr/>
          <p:nvPr/>
        </p:nvSpPr>
        <p:spPr>
          <a:xfrm>
            <a:off x="548640" y="1188720"/>
            <a:ext cx="3931920" cy="3017520"/>
          </a:xfrm>
          <a:prstGeom prst="roundRect">
            <a:avLst>
              <a:gd name="adj" fmla="val 4242"/>
            </a:avLst>
          </a:prstGeom>
          <a:solidFill>
            <a:srgbClr val="FFF1C7"/>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4" name="Text 2"/>
          <p:cNvSpPr txBox="1"/>
          <p:nvPr/>
        </p:nvSpPr>
        <p:spPr>
          <a:xfrm>
            <a:off x="777240" y="1188720"/>
            <a:ext cx="731520" cy="731520"/>
          </a:xfrm>
          <a:prstGeom prst="rect">
            <a:avLst/>
          </a:prstGeom>
          <a:noFill/>
          <a:ln/>
        </p:spPr>
        <p:txBody>
          <a:bodyPr wrap="square" lIns="0" tIns="0" rIns="0" bIns="0" rtlCol="0" anchor="t"/>
          <a:lstStyle/>
          <a:p>
            <a:pPr marL="0" indent="0">
              <a:buNone/>
            </a:pPr>
            <a:r>
              <a:rPr lang="en-US" sz="6000" b="1" dirty="0">
                <a:solidFill>
                  <a:schemeClr val="accent2"/>
                </a:solidFill>
                <a:latin typeface="+mj-lt" pitchFamily="34" charset="0"/>
                <a:ea typeface="+mj-lt" pitchFamily="34" charset="-122"/>
                <a:cs typeface="+mj-lt" pitchFamily="34" charset="-120"/>
              </a:rPr>
              <a:t>“</a:t>
            </a:r>
            <a:endParaRPr lang="en-US" sz="6000" dirty="0"/>
          </a:p>
        </p:txBody>
      </p:sp>
      <p:sp>
        <p:nvSpPr>
          <p:cNvPr id="5" name="Text 3"/>
          <p:cNvSpPr txBox="1"/>
          <p:nvPr/>
        </p:nvSpPr>
        <p:spPr>
          <a:xfrm>
            <a:off x="822960" y="1828800"/>
            <a:ext cx="3383280" cy="1280160"/>
          </a:xfrm>
          <a:prstGeom prst="rect">
            <a:avLst/>
          </a:prstGeom>
          <a:noFill/>
          <a:ln/>
        </p:spPr>
        <p:txBody>
          <a:bodyPr wrap="square" lIns="0" tIns="0" rIns="0" bIns="0" rtlCol="0" anchor="t"/>
          <a:lstStyle/>
          <a:p>
            <a:pPr marL="0" indent="0">
              <a:buNone/>
            </a:pPr>
            <a:r>
              <a:rPr lang="en-US" sz="2000" i="1" dirty="0">
                <a:solidFill>
                  <a:schemeClr val="tx1"/>
                </a:solidFill>
                <a:latin typeface="+mj-lt" pitchFamily="34" charset="0"/>
                <a:ea typeface="+mj-lt" pitchFamily="34" charset="-122"/>
                <a:cs typeface="+mj-lt" pitchFamily="34" charset="-120"/>
              </a:rPr>
              <a:t>Someone in your life who brings emotional safety, warmth, optimism, and comfort.</a:t>
            </a:r>
            <a:endParaRPr lang="en-US" sz="2000" dirty="0"/>
          </a:p>
        </p:txBody>
      </p:sp>
      <p:sp>
        <p:nvSpPr>
          <p:cNvPr id="6" name="Text 4"/>
          <p:cNvSpPr txBox="1"/>
          <p:nvPr/>
        </p:nvSpPr>
        <p:spPr>
          <a:xfrm>
            <a:off x="822960" y="3200400"/>
            <a:ext cx="3383280" cy="822960"/>
          </a:xfrm>
          <a:prstGeom prst="rect">
            <a:avLst/>
          </a:prstGeom>
          <a:noFill/>
          <a:ln/>
        </p:spPr>
        <p:txBody>
          <a:bodyPr wrap="square" lIns="0" tIns="0" rIns="0" bIns="0" rtlCol="0" anchor="t"/>
          <a:lstStyle/>
          <a:p>
            <a:pPr marL="0" indent="0">
              <a:buNone/>
            </a:pPr>
            <a:r>
              <a:rPr lang="en-US" sz="1300" dirty="0">
                <a:solidFill>
                  <a:schemeClr val="tx2"/>
                </a:solidFill>
              </a:rPr>
              <a:t>That is the experience DayFeel hopes to offer: a welcoming place to check in, reflect, and feel heard.</a:t>
            </a:r>
            <a:endParaRPr lang="en-US" sz="1300" dirty="0"/>
          </a:p>
        </p:txBody>
      </p:sp>
      <p:sp>
        <p:nvSpPr>
          <p:cNvPr id="7" name="Value Emotional safety"/>
          <p:cNvSpPr/>
          <p:nvPr/>
        </p:nvSpPr>
        <p:spPr>
          <a:xfrm>
            <a:off x="4846320" y="1188720"/>
            <a:ext cx="1783080" cy="868680"/>
          </a:xfrm>
          <a:prstGeom prst="roundRect">
            <a:avLst>
              <a:gd name="adj" fmla="val 14737"/>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8" name="Icon circle LuShieldCheck"/>
          <p:cNvSpPr/>
          <p:nvPr/>
        </p:nvSpPr>
        <p:spPr>
          <a:xfrm>
            <a:off x="4983480" y="1371600"/>
            <a:ext cx="502920" cy="502920"/>
          </a:xfrm>
          <a:prstGeom prst="ellipse">
            <a:avLst/>
          </a:prstGeom>
          <a:solidFill>
            <a:schemeClr val="accent1"/>
          </a:solidFill>
          <a:ln/>
        </p:spPr>
        <p:txBody>
          <a:bodyPr/>
          <a:lstStyle/>
          <a:p>
            <a:endParaRPr lang="en-US"/>
          </a:p>
        </p:txBody>
      </p:sp>
      <p:pic>
        <p:nvPicPr>
          <p:cNvPr id="9" name="Image 0" descr="ShieldCheck icon"/>
          <p:cNvPicPr>
            <a:picLocks noChangeAspect="1"/>
          </p:cNvPicPr>
          <p:nvPr/>
        </p:nvPicPr>
        <p:blipFill>
          <a:blip r:embed="rId3"/>
          <a:stretch>
            <a:fillRect/>
          </a:stretch>
        </p:blipFill>
        <p:spPr>
          <a:xfrm>
            <a:off x="5104181" y="1492301"/>
            <a:ext cx="261518" cy="261518"/>
          </a:xfrm>
          <a:prstGeom prst="rect">
            <a:avLst/>
          </a:prstGeom>
        </p:spPr>
      </p:pic>
      <p:sp>
        <p:nvSpPr>
          <p:cNvPr id="10" name="Text 7"/>
          <p:cNvSpPr txBox="1"/>
          <p:nvPr/>
        </p:nvSpPr>
        <p:spPr>
          <a:xfrm>
            <a:off x="5577840" y="1188720"/>
            <a:ext cx="1005840" cy="868680"/>
          </a:xfrm>
          <a:prstGeom prst="rect">
            <a:avLst/>
          </a:prstGeom>
          <a:noFill/>
          <a:ln/>
        </p:spPr>
        <p:txBody>
          <a:bodyPr wrap="square" lIns="0" tIns="0" rIns="0" bIns="0" rtlCol="0" anchor="ctr"/>
          <a:lstStyle/>
          <a:p>
            <a:pPr marL="0" indent="0">
              <a:buNone/>
            </a:pPr>
            <a:r>
              <a:rPr lang="en-US" sz="1300" b="1" dirty="0">
                <a:solidFill>
                  <a:schemeClr val="tx1"/>
                </a:solidFill>
              </a:rPr>
              <a:t>Emotional safety</a:t>
            </a:r>
            <a:endParaRPr lang="en-US" sz="1300" dirty="0"/>
          </a:p>
        </p:txBody>
      </p:sp>
      <p:sp>
        <p:nvSpPr>
          <p:cNvPr id="11" name="Value Warmth"/>
          <p:cNvSpPr/>
          <p:nvPr/>
        </p:nvSpPr>
        <p:spPr>
          <a:xfrm>
            <a:off x="6766560" y="1188720"/>
            <a:ext cx="1783080" cy="868680"/>
          </a:xfrm>
          <a:prstGeom prst="roundRect">
            <a:avLst>
              <a:gd name="adj" fmla="val 14737"/>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12" name="Icon circle LuSun"/>
          <p:cNvSpPr/>
          <p:nvPr/>
        </p:nvSpPr>
        <p:spPr>
          <a:xfrm>
            <a:off x="6903720" y="1371600"/>
            <a:ext cx="502920" cy="502920"/>
          </a:xfrm>
          <a:prstGeom prst="ellipse">
            <a:avLst/>
          </a:prstGeom>
          <a:solidFill>
            <a:schemeClr val="accent1"/>
          </a:solidFill>
          <a:ln/>
        </p:spPr>
        <p:txBody>
          <a:bodyPr/>
          <a:lstStyle/>
          <a:p>
            <a:endParaRPr lang="en-US"/>
          </a:p>
        </p:txBody>
      </p:sp>
      <p:pic>
        <p:nvPicPr>
          <p:cNvPr id="13" name="Image 1" descr="Sun icon"/>
          <p:cNvPicPr>
            <a:picLocks noChangeAspect="1"/>
          </p:cNvPicPr>
          <p:nvPr/>
        </p:nvPicPr>
        <p:blipFill>
          <a:blip r:embed="rId4"/>
          <a:stretch>
            <a:fillRect/>
          </a:stretch>
        </p:blipFill>
        <p:spPr>
          <a:xfrm>
            <a:off x="7024421" y="1492301"/>
            <a:ext cx="261518" cy="261518"/>
          </a:xfrm>
          <a:prstGeom prst="rect">
            <a:avLst/>
          </a:prstGeom>
        </p:spPr>
      </p:pic>
      <p:sp>
        <p:nvSpPr>
          <p:cNvPr id="14" name="Text 10"/>
          <p:cNvSpPr txBox="1"/>
          <p:nvPr/>
        </p:nvSpPr>
        <p:spPr>
          <a:xfrm>
            <a:off x="7498080" y="1188720"/>
            <a:ext cx="1005840" cy="868680"/>
          </a:xfrm>
          <a:prstGeom prst="rect">
            <a:avLst/>
          </a:prstGeom>
          <a:noFill/>
          <a:ln/>
        </p:spPr>
        <p:txBody>
          <a:bodyPr wrap="square" lIns="0" tIns="0" rIns="0" bIns="0" rtlCol="0" anchor="ctr"/>
          <a:lstStyle/>
          <a:p>
            <a:pPr marL="0" indent="0">
              <a:buNone/>
            </a:pPr>
            <a:r>
              <a:rPr lang="en-US" sz="1300" b="1" dirty="0">
                <a:solidFill>
                  <a:schemeClr val="tx1"/>
                </a:solidFill>
              </a:rPr>
              <a:t>Warmth</a:t>
            </a:r>
            <a:endParaRPr lang="en-US" sz="1300" dirty="0"/>
          </a:p>
        </p:txBody>
      </p:sp>
      <p:sp>
        <p:nvSpPr>
          <p:cNvPr id="15" name="Value Optimism"/>
          <p:cNvSpPr/>
          <p:nvPr/>
        </p:nvSpPr>
        <p:spPr>
          <a:xfrm>
            <a:off x="4846320" y="2212848"/>
            <a:ext cx="1783080" cy="868680"/>
          </a:xfrm>
          <a:prstGeom prst="roundRect">
            <a:avLst>
              <a:gd name="adj" fmla="val 14737"/>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16" name="Icon circle LuSunrise"/>
          <p:cNvSpPr/>
          <p:nvPr/>
        </p:nvSpPr>
        <p:spPr>
          <a:xfrm>
            <a:off x="4983480" y="2395728"/>
            <a:ext cx="502920" cy="502920"/>
          </a:xfrm>
          <a:prstGeom prst="ellipse">
            <a:avLst/>
          </a:prstGeom>
          <a:solidFill>
            <a:schemeClr val="accent1"/>
          </a:solidFill>
          <a:ln/>
        </p:spPr>
        <p:txBody>
          <a:bodyPr/>
          <a:lstStyle/>
          <a:p>
            <a:endParaRPr lang="en-US"/>
          </a:p>
        </p:txBody>
      </p:sp>
      <p:pic>
        <p:nvPicPr>
          <p:cNvPr id="17" name="Image 2" descr="Sunrise icon"/>
          <p:cNvPicPr>
            <a:picLocks noChangeAspect="1"/>
          </p:cNvPicPr>
          <p:nvPr/>
        </p:nvPicPr>
        <p:blipFill>
          <a:blip r:embed="rId5"/>
          <a:stretch>
            <a:fillRect/>
          </a:stretch>
        </p:blipFill>
        <p:spPr>
          <a:xfrm>
            <a:off x="5104181" y="2516429"/>
            <a:ext cx="261518" cy="261518"/>
          </a:xfrm>
          <a:prstGeom prst="rect">
            <a:avLst/>
          </a:prstGeom>
        </p:spPr>
      </p:pic>
      <p:sp>
        <p:nvSpPr>
          <p:cNvPr id="18" name="Text 13"/>
          <p:cNvSpPr txBox="1"/>
          <p:nvPr/>
        </p:nvSpPr>
        <p:spPr>
          <a:xfrm>
            <a:off x="5577840" y="2212848"/>
            <a:ext cx="1005840" cy="868680"/>
          </a:xfrm>
          <a:prstGeom prst="rect">
            <a:avLst/>
          </a:prstGeom>
          <a:noFill/>
          <a:ln/>
        </p:spPr>
        <p:txBody>
          <a:bodyPr wrap="square" lIns="0" tIns="0" rIns="0" bIns="0" rtlCol="0" anchor="ctr"/>
          <a:lstStyle/>
          <a:p>
            <a:pPr marL="0" indent="0">
              <a:buNone/>
            </a:pPr>
            <a:r>
              <a:rPr lang="en-US" sz="1300" b="1" dirty="0">
                <a:solidFill>
                  <a:schemeClr val="tx1"/>
                </a:solidFill>
              </a:rPr>
              <a:t>Optimism</a:t>
            </a:r>
            <a:endParaRPr lang="en-US" sz="1300" dirty="0"/>
          </a:p>
        </p:txBody>
      </p:sp>
      <p:sp>
        <p:nvSpPr>
          <p:cNvPr id="19" name="Value Comfort"/>
          <p:cNvSpPr/>
          <p:nvPr/>
        </p:nvSpPr>
        <p:spPr>
          <a:xfrm>
            <a:off x="6766560" y="2212848"/>
            <a:ext cx="1783080" cy="868680"/>
          </a:xfrm>
          <a:prstGeom prst="roundRect">
            <a:avLst>
              <a:gd name="adj" fmla="val 14737"/>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20" name="Icon circle LuHeartHandshake"/>
          <p:cNvSpPr/>
          <p:nvPr/>
        </p:nvSpPr>
        <p:spPr>
          <a:xfrm>
            <a:off x="6903720" y="2395728"/>
            <a:ext cx="502920" cy="502920"/>
          </a:xfrm>
          <a:prstGeom prst="ellipse">
            <a:avLst/>
          </a:prstGeom>
          <a:solidFill>
            <a:schemeClr val="accent1"/>
          </a:solidFill>
          <a:ln/>
        </p:spPr>
        <p:txBody>
          <a:bodyPr/>
          <a:lstStyle/>
          <a:p>
            <a:endParaRPr lang="en-US"/>
          </a:p>
        </p:txBody>
      </p:sp>
      <p:pic>
        <p:nvPicPr>
          <p:cNvPr id="21" name="Image 3" descr="HeartHandshake icon"/>
          <p:cNvPicPr>
            <a:picLocks noChangeAspect="1"/>
          </p:cNvPicPr>
          <p:nvPr/>
        </p:nvPicPr>
        <p:blipFill>
          <a:blip r:embed="rId6"/>
          <a:stretch>
            <a:fillRect/>
          </a:stretch>
        </p:blipFill>
        <p:spPr>
          <a:xfrm>
            <a:off x="7024421" y="2516429"/>
            <a:ext cx="261518" cy="261518"/>
          </a:xfrm>
          <a:prstGeom prst="rect">
            <a:avLst/>
          </a:prstGeom>
        </p:spPr>
      </p:pic>
      <p:sp>
        <p:nvSpPr>
          <p:cNvPr id="22" name="Text 16"/>
          <p:cNvSpPr txBox="1"/>
          <p:nvPr/>
        </p:nvSpPr>
        <p:spPr>
          <a:xfrm>
            <a:off x="7498080" y="2212848"/>
            <a:ext cx="1005840" cy="868680"/>
          </a:xfrm>
          <a:prstGeom prst="rect">
            <a:avLst/>
          </a:prstGeom>
          <a:noFill/>
          <a:ln/>
        </p:spPr>
        <p:txBody>
          <a:bodyPr wrap="square" lIns="0" tIns="0" rIns="0" bIns="0" rtlCol="0" anchor="ctr"/>
          <a:lstStyle/>
          <a:p>
            <a:pPr marL="0" indent="0">
              <a:buNone/>
            </a:pPr>
            <a:r>
              <a:rPr lang="en-US" sz="1300" b="1" dirty="0">
                <a:solidFill>
                  <a:schemeClr val="tx1"/>
                </a:solidFill>
              </a:rPr>
              <a:t>Comfort</a:t>
            </a:r>
            <a:endParaRPr lang="en-US" sz="1300" dirty="0"/>
          </a:p>
        </p:txBody>
      </p:sp>
      <p:sp>
        <p:nvSpPr>
          <p:cNvPr id="23" name="Text 17"/>
          <p:cNvSpPr txBox="1"/>
          <p:nvPr/>
        </p:nvSpPr>
        <p:spPr>
          <a:xfrm>
            <a:off x="4846320" y="3337560"/>
            <a:ext cx="3703320" cy="868680"/>
          </a:xfrm>
          <a:prstGeom prst="rect">
            <a:avLst/>
          </a:prstGeom>
          <a:noFill/>
          <a:ln/>
        </p:spPr>
        <p:txBody>
          <a:bodyPr wrap="square" lIns="0" tIns="0" rIns="0" bIns="0" rtlCol="0" anchor="t"/>
          <a:lstStyle/>
          <a:p>
            <a:pPr marL="0" indent="0">
              <a:buNone/>
            </a:pPr>
            <a:r>
              <a:rPr lang="en-US" sz="1300" dirty="0">
                <a:solidFill>
                  <a:schemeClr val="tx2"/>
                </a:solidFill>
              </a:rPr>
              <a:t>Day Feel does not ask users to feel happy every day; it invites them to acknowledge whatever they are feeling.</a:t>
            </a:r>
            <a:endParaRPr lang="en-US" sz="1300" dirty="0"/>
          </a:p>
        </p:txBody>
      </p:sp>
      <p:sp>
        <p:nvSpPr>
          <p:cNvPr id="25" name="Slide Number Placeholder 0"/>
          <p:cNvSpPr>
            <a:spLocks noGrp="1"/>
          </p:cNvSpPr>
          <p:nvPr>
            <p:ph type="sldNum" sz="quarter" idx="4294967295"/>
          </p:nvPr>
        </p:nvSpPr>
        <p:spPr>
          <a:xfrm>
            <a:off x="548640" y="4736592"/>
            <a:ext cx="45720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548640" y="320040"/>
            <a:ext cx="7223760" cy="685800"/>
          </a:xfrm>
          <a:prstGeom prst="rect">
            <a:avLst/>
          </a:prstGeom>
          <a:noFill/>
          <a:ln/>
        </p:spPr>
        <p:txBody>
          <a:bodyPr wrap="square" lIns="0" tIns="0" rIns="0" bIns="0" rtlCol="0" anchor="ctr"/>
          <a:lstStyle/>
          <a:p>
            <a:pPr marL="0" indent="0" algn="l">
              <a:buNone/>
            </a:pPr>
            <a:r>
              <a:rPr lang="en-US" sz="3000" b="1" dirty="0">
                <a:solidFill>
                  <a:schemeClr val="tx1"/>
                </a:solidFill>
              </a:rPr>
              <a:t>What DayFeel sets out to do</a:t>
            </a:r>
            <a:endParaRPr lang="en-US" sz="3000" dirty="0"/>
          </a:p>
        </p:txBody>
      </p:sp>
      <p:sp>
        <p:nvSpPr>
          <p:cNvPr id="3" name="Objective number 1"/>
          <p:cNvSpPr/>
          <p:nvPr/>
        </p:nvSpPr>
        <p:spPr>
          <a:xfrm>
            <a:off x="548640" y="1188720"/>
            <a:ext cx="457200" cy="457200"/>
          </a:xfrm>
          <a:prstGeom prst="ellipse">
            <a:avLst/>
          </a:prstGeom>
          <a:solidFill>
            <a:schemeClr val="accent1"/>
          </a:solidFill>
          <a:ln/>
        </p:spPr>
        <p:txBody>
          <a:bodyPr/>
          <a:lstStyle/>
          <a:p>
            <a:endParaRPr lang="en-US"/>
          </a:p>
        </p:txBody>
      </p:sp>
      <p:sp>
        <p:nvSpPr>
          <p:cNvPr id="4" name="Text 2"/>
          <p:cNvSpPr txBox="1"/>
          <p:nvPr/>
        </p:nvSpPr>
        <p:spPr>
          <a:xfrm>
            <a:off x="548640" y="118872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mj-lt" pitchFamily="34" charset="0"/>
                <a:ea typeface="+mj-lt" pitchFamily="34" charset="-122"/>
                <a:cs typeface="+mj-lt" pitchFamily="34" charset="-120"/>
              </a:rPr>
              <a:t>1</a:t>
            </a:r>
            <a:endParaRPr lang="en-US" sz="1600" dirty="0"/>
          </a:p>
        </p:txBody>
      </p:sp>
      <p:sp>
        <p:nvSpPr>
          <p:cNvPr id="5" name="Text 3"/>
          <p:cNvSpPr txBox="1"/>
          <p:nvPr/>
        </p:nvSpPr>
        <p:spPr>
          <a:xfrm>
            <a:off x="1188720" y="1188720"/>
            <a:ext cx="3840480" cy="457200"/>
          </a:xfrm>
          <a:prstGeom prst="rect">
            <a:avLst/>
          </a:prstGeom>
          <a:noFill/>
          <a:ln/>
        </p:spPr>
        <p:txBody>
          <a:bodyPr wrap="square" lIns="0" tIns="0" rIns="0" bIns="0" rtlCol="0" anchor="ctr"/>
          <a:lstStyle/>
          <a:p>
            <a:pPr marL="0" indent="0">
              <a:buNone/>
            </a:pPr>
            <a:r>
              <a:rPr lang="en-US" sz="1500" dirty="0">
                <a:solidFill>
                  <a:schemeClr val="tx1"/>
                </a:solidFill>
              </a:rPr>
              <a:t>Make daily recording straightforward</a:t>
            </a:r>
            <a:endParaRPr lang="en-US" sz="1500" dirty="0"/>
          </a:p>
        </p:txBody>
      </p:sp>
      <p:sp>
        <p:nvSpPr>
          <p:cNvPr id="6" name="Objective number 2"/>
          <p:cNvSpPr/>
          <p:nvPr/>
        </p:nvSpPr>
        <p:spPr>
          <a:xfrm>
            <a:off x="548640" y="1810512"/>
            <a:ext cx="457200" cy="457200"/>
          </a:xfrm>
          <a:prstGeom prst="ellipse">
            <a:avLst/>
          </a:prstGeom>
          <a:solidFill>
            <a:schemeClr val="accent1"/>
          </a:solidFill>
          <a:ln/>
        </p:spPr>
        <p:txBody>
          <a:bodyPr/>
          <a:lstStyle/>
          <a:p>
            <a:endParaRPr lang="en-US"/>
          </a:p>
        </p:txBody>
      </p:sp>
      <p:sp>
        <p:nvSpPr>
          <p:cNvPr id="7" name="Text 5"/>
          <p:cNvSpPr txBox="1"/>
          <p:nvPr/>
        </p:nvSpPr>
        <p:spPr>
          <a:xfrm>
            <a:off x="548640" y="1810512"/>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mj-lt" pitchFamily="34" charset="0"/>
                <a:ea typeface="+mj-lt" pitchFamily="34" charset="-122"/>
                <a:cs typeface="+mj-lt" pitchFamily="34" charset="-120"/>
              </a:rPr>
              <a:t>2</a:t>
            </a:r>
            <a:endParaRPr lang="en-US" sz="1600" dirty="0"/>
          </a:p>
        </p:txBody>
      </p:sp>
      <p:sp>
        <p:nvSpPr>
          <p:cNvPr id="8" name="Text 6"/>
          <p:cNvSpPr txBox="1"/>
          <p:nvPr/>
        </p:nvSpPr>
        <p:spPr>
          <a:xfrm>
            <a:off x="1188720" y="1810512"/>
            <a:ext cx="3840480" cy="457200"/>
          </a:xfrm>
          <a:prstGeom prst="rect">
            <a:avLst/>
          </a:prstGeom>
          <a:noFill/>
          <a:ln/>
        </p:spPr>
        <p:txBody>
          <a:bodyPr wrap="square" lIns="0" tIns="0" rIns="0" bIns="0" rtlCol="0" anchor="ctr"/>
          <a:lstStyle/>
          <a:p>
            <a:pPr marL="0" indent="0">
              <a:buNone/>
            </a:pPr>
            <a:r>
              <a:rPr lang="en-US" sz="1500" dirty="0">
                <a:solidFill>
                  <a:schemeClr val="tx1"/>
                </a:solidFill>
              </a:rPr>
              <a:t>Preserve a useful personal history</a:t>
            </a:r>
            <a:endParaRPr lang="en-US" sz="1500" dirty="0"/>
          </a:p>
        </p:txBody>
      </p:sp>
      <p:sp>
        <p:nvSpPr>
          <p:cNvPr id="9" name="Objective number 3"/>
          <p:cNvSpPr/>
          <p:nvPr/>
        </p:nvSpPr>
        <p:spPr>
          <a:xfrm>
            <a:off x="548640" y="2432304"/>
            <a:ext cx="457200" cy="457200"/>
          </a:xfrm>
          <a:prstGeom prst="ellipse">
            <a:avLst/>
          </a:prstGeom>
          <a:solidFill>
            <a:schemeClr val="accent1"/>
          </a:solidFill>
          <a:ln/>
        </p:spPr>
        <p:txBody>
          <a:bodyPr/>
          <a:lstStyle/>
          <a:p>
            <a:endParaRPr lang="en-US"/>
          </a:p>
        </p:txBody>
      </p:sp>
      <p:sp>
        <p:nvSpPr>
          <p:cNvPr id="10" name="Text 8"/>
          <p:cNvSpPr txBox="1"/>
          <p:nvPr/>
        </p:nvSpPr>
        <p:spPr>
          <a:xfrm>
            <a:off x="548640" y="2432304"/>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mj-lt" pitchFamily="34" charset="0"/>
                <a:ea typeface="+mj-lt" pitchFamily="34" charset="-122"/>
                <a:cs typeface="+mj-lt" pitchFamily="34" charset="-120"/>
              </a:rPr>
              <a:t>3</a:t>
            </a:r>
            <a:endParaRPr lang="en-US" sz="1600" dirty="0"/>
          </a:p>
        </p:txBody>
      </p:sp>
      <p:sp>
        <p:nvSpPr>
          <p:cNvPr id="11" name="Text 9"/>
          <p:cNvSpPr txBox="1"/>
          <p:nvPr/>
        </p:nvSpPr>
        <p:spPr>
          <a:xfrm>
            <a:off x="1188720" y="2432304"/>
            <a:ext cx="3840480" cy="457200"/>
          </a:xfrm>
          <a:prstGeom prst="rect">
            <a:avLst/>
          </a:prstGeom>
          <a:noFill/>
          <a:ln/>
        </p:spPr>
        <p:txBody>
          <a:bodyPr wrap="square" lIns="0" tIns="0" rIns="0" bIns="0" rtlCol="0" anchor="ctr"/>
          <a:lstStyle/>
          <a:p>
            <a:pPr marL="0" indent="0">
              <a:buNone/>
            </a:pPr>
            <a:r>
              <a:rPr lang="en-US" sz="1500" dirty="0">
                <a:solidFill>
                  <a:schemeClr val="tx1"/>
                </a:solidFill>
              </a:rPr>
              <a:t>Support reflection without diagnostic claims</a:t>
            </a:r>
            <a:endParaRPr lang="en-US" sz="1500" dirty="0"/>
          </a:p>
        </p:txBody>
      </p:sp>
      <p:sp>
        <p:nvSpPr>
          <p:cNvPr id="12" name="Objective number 4"/>
          <p:cNvSpPr/>
          <p:nvPr/>
        </p:nvSpPr>
        <p:spPr>
          <a:xfrm>
            <a:off x="548640" y="3054096"/>
            <a:ext cx="457200" cy="457200"/>
          </a:xfrm>
          <a:prstGeom prst="ellipse">
            <a:avLst/>
          </a:prstGeom>
          <a:solidFill>
            <a:schemeClr val="accent1"/>
          </a:solidFill>
          <a:ln/>
        </p:spPr>
        <p:txBody>
          <a:bodyPr/>
          <a:lstStyle/>
          <a:p>
            <a:endParaRPr lang="en-US"/>
          </a:p>
        </p:txBody>
      </p:sp>
      <p:sp>
        <p:nvSpPr>
          <p:cNvPr id="13" name="Text 11"/>
          <p:cNvSpPr txBox="1"/>
          <p:nvPr/>
        </p:nvSpPr>
        <p:spPr>
          <a:xfrm>
            <a:off x="548640" y="3054096"/>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mj-lt" pitchFamily="34" charset="0"/>
                <a:ea typeface="+mj-lt" pitchFamily="34" charset="-122"/>
                <a:cs typeface="+mj-lt" pitchFamily="34" charset="-120"/>
              </a:rPr>
              <a:t>4</a:t>
            </a:r>
            <a:endParaRPr lang="en-US" sz="1600" dirty="0"/>
          </a:p>
        </p:txBody>
      </p:sp>
      <p:sp>
        <p:nvSpPr>
          <p:cNvPr id="14" name="Text 12"/>
          <p:cNvSpPr txBox="1"/>
          <p:nvPr/>
        </p:nvSpPr>
        <p:spPr>
          <a:xfrm>
            <a:off x="1188720" y="3054096"/>
            <a:ext cx="3840480" cy="457200"/>
          </a:xfrm>
          <a:prstGeom prst="rect">
            <a:avLst/>
          </a:prstGeom>
          <a:noFill/>
          <a:ln/>
        </p:spPr>
        <p:txBody>
          <a:bodyPr wrap="square" lIns="0" tIns="0" rIns="0" bIns="0" rtlCol="0" anchor="ctr"/>
          <a:lstStyle/>
          <a:p>
            <a:pPr marL="0" indent="0">
              <a:buNone/>
            </a:pPr>
            <a:r>
              <a:rPr lang="en-US" sz="1500" dirty="0">
                <a:solidFill>
                  <a:schemeClr val="tx1"/>
                </a:solidFill>
              </a:rPr>
              <a:t>Provide moderated peer interaction</a:t>
            </a:r>
            <a:endParaRPr lang="en-US" sz="1500" dirty="0"/>
          </a:p>
        </p:txBody>
      </p:sp>
      <p:sp>
        <p:nvSpPr>
          <p:cNvPr id="15" name="Objective number 5"/>
          <p:cNvSpPr/>
          <p:nvPr/>
        </p:nvSpPr>
        <p:spPr>
          <a:xfrm>
            <a:off x="548640" y="3675888"/>
            <a:ext cx="457200" cy="457200"/>
          </a:xfrm>
          <a:prstGeom prst="ellipse">
            <a:avLst/>
          </a:prstGeom>
          <a:solidFill>
            <a:schemeClr val="accent1"/>
          </a:solidFill>
          <a:ln/>
        </p:spPr>
        <p:txBody>
          <a:bodyPr/>
          <a:lstStyle/>
          <a:p>
            <a:endParaRPr lang="en-US"/>
          </a:p>
        </p:txBody>
      </p:sp>
      <p:sp>
        <p:nvSpPr>
          <p:cNvPr id="16" name="Text 14"/>
          <p:cNvSpPr txBox="1"/>
          <p:nvPr/>
        </p:nvSpPr>
        <p:spPr>
          <a:xfrm>
            <a:off x="548640" y="3675888"/>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latin typeface="+mj-lt" pitchFamily="34" charset="0"/>
                <a:ea typeface="+mj-lt" pitchFamily="34" charset="-122"/>
                <a:cs typeface="+mj-lt" pitchFamily="34" charset="-120"/>
              </a:rPr>
              <a:t>5</a:t>
            </a:r>
            <a:endParaRPr lang="en-US" sz="1600" dirty="0"/>
          </a:p>
        </p:txBody>
      </p:sp>
      <p:sp>
        <p:nvSpPr>
          <p:cNvPr id="17" name="Text 15"/>
          <p:cNvSpPr txBox="1"/>
          <p:nvPr/>
        </p:nvSpPr>
        <p:spPr>
          <a:xfrm>
            <a:off x="1188720" y="3675888"/>
            <a:ext cx="3840480" cy="457200"/>
          </a:xfrm>
          <a:prstGeom prst="rect">
            <a:avLst/>
          </a:prstGeom>
          <a:noFill/>
          <a:ln/>
        </p:spPr>
        <p:txBody>
          <a:bodyPr wrap="square" lIns="0" tIns="0" rIns="0" bIns="0" rtlCol="0" anchor="ctr"/>
          <a:lstStyle/>
          <a:p>
            <a:pPr marL="0" indent="0">
              <a:buNone/>
            </a:pPr>
            <a:r>
              <a:rPr lang="en-US" sz="1500" dirty="0">
                <a:solidFill>
                  <a:schemeClr val="tx1"/>
                </a:solidFill>
              </a:rPr>
              <a:t>Give users control over AI preferences and data</a:t>
            </a:r>
            <a:endParaRPr lang="en-US" sz="1500" dirty="0"/>
          </a:p>
        </p:txBody>
      </p:sp>
      <p:sp>
        <p:nvSpPr>
          <p:cNvPr id="18" name="Boundaries card"/>
          <p:cNvSpPr/>
          <p:nvPr/>
        </p:nvSpPr>
        <p:spPr>
          <a:xfrm>
            <a:off x="5120640" y="1188720"/>
            <a:ext cx="3474720" cy="3017520"/>
          </a:xfrm>
          <a:prstGeom prst="roundRect">
            <a:avLst>
              <a:gd name="adj" fmla="val 4242"/>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19" name="Icon circle LuLifeBuoy"/>
          <p:cNvSpPr/>
          <p:nvPr/>
        </p:nvSpPr>
        <p:spPr>
          <a:xfrm>
            <a:off x="5349240" y="1371600"/>
            <a:ext cx="548640" cy="548640"/>
          </a:xfrm>
          <a:prstGeom prst="ellipse">
            <a:avLst/>
          </a:prstGeom>
          <a:solidFill>
            <a:schemeClr val="bg2"/>
          </a:solidFill>
          <a:ln/>
        </p:spPr>
        <p:txBody>
          <a:bodyPr/>
          <a:lstStyle/>
          <a:p>
            <a:endParaRPr lang="en-US"/>
          </a:p>
        </p:txBody>
      </p:sp>
      <p:pic>
        <p:nvPicPr>
          <p:cNvPr id="20" name="Image 0" descr="LifeBuoy icon"/>
          <p:cNvPicPr>
            <a:picLocks noChangeAspect="1"/>
          </p:cNvPicPr>
          <p:nvPr/>
        </p:nvPicPr>
        <p:blipFill>
          <a:blip r:embed="rId3"/>
          <a:stretch>
            <a:fillRect/>
          </a:stretch>
        </p:blipFill>
        <p:spPr>
          <a:xfrm>
            <a:off x="5480914" y="1503274"/>
            <a:ext cx="285293" cy="285293"/>
          </a:xfrm>
          <a:prstGeom prst="rect">
            <a:avLst/>
          </a:prstGeom>
        </p:spPr>
      </p:pic>
      <p:sp>
        <p:nvSpPr>
          <p:cNvPr id="21" name="Text 18"/>
          <p:cNvSpPr txBox="1"/>
          <p:nvPr/>
        </p:nvSpPr>
        <p:spPr>
          <a:xfrm>
            <a:off x="6035040" y="1371600"/>
            <a:ext cx="2468880" cy="548640"/>
          </a:xfrm>
          <a:prstGeom prst="rect">
            <a:avLst/>
          </a:prstGeom>
          <a:noFill/>
          <a:ln/>
        </p:spPr>
        <p:txBody>
          <a:bodyPr wrap="square" lIns="0" tIns="0" rIns="0" bIns="0" rtlCol="0" anchor="ctr"/>
          <a:lstStyle/>
          <a:p>
            <a:pPr marL="0" indent="0">
              <a:buNone/>
            </a:pPr>
            <a:r>
              <a:rPr lang="en-US" sz="1600" b="1" dirty="0">
                <a:solidFill>
                  <a:schemeClr val="tx1"/>
                </a:solidFill>
                <a:latin typeface="+mj-lt" pitchFamily="34" charset="0"/>
                <a:ea typeface="+mj-lt" pitchFamily="34" charset="-122"/>
                <a:cs typeface="+mj-lt" pitchFamily="34" charset="-120"/>
              </a:rPr>
              <a:t>A companion, not a clinic</a:t>
            </a:r>
            <a:endParaRPr lang="en-US" sz="1600" dirty="0"/>
          </a:p>
        </p:txBody>
      </p:sp>
      <p:sp>
        <p:nvSpPr>
          <p:cNvPr id="22" name="Text 19"/>
          <p:cNvSpPr txBox="1"/>
          <p:nvPr/>
        </p:nvSpPr>
        <p:spPr>
          <a:xfrm>
            <a:off x="5349240" y="2103120"/>
            <a:ext cx="3063240" cy="1188720"/>
          </a:xfrm>
          <a:prstGeom prst="rect">
            <a:avLst/>
          </a:prstGeom>
          <a:noFill/>
          <a:ln/>
        </p:spPr>
        <p:txBody>
          <a:bodyPr wrap="square" lIns="0" tIns="0" rIns="0" bIns="0" rtlCol="0" anchor="t"/>
          <a:lstStyle/>
          <a:p>
            <a:pPr marL="0" indent="0">
              <a:buNone/>
            </a:pPr>
            <a:r>
              <a:rPr lang="en-US" sz="1300" dirty="0">
                <a:solidFill>
                  <a:schemeClr val="tx2"/>
                </a:solidFill>
              </a:rPr>
              <a:t>DayFeel supports wellbeing and self-reflection. It is not a diagnostic tool, treatment service, emergency service, or a replacement for professional care.</a:t>
            </a:r>
            <a:endParaRPr lang="en-US" sz="1300" dirty="0"/>
          </a:p>
        </p:txBody>
      </p:sp>
      <p:sp>
        <p:nvSpPr>
          <p:cNvPr id="23" name="Help pill"/>
          <p:cNvSpPr/>
          <p:nvPr/>
        </p:nvSpPr>
        <p:spPr>
          <a:xfrm>
            <a:off x="5349240" y="3429000"/>
            <a:ext cx="3017520" cy="548640"/>
          </a:xfrm>
          <a:prstGeom prst="roundRect">
            <a:avLst>
              <a:gd name="adj" fmla="val 50000"/>
            </a:avLst>
          </a:prstGeom>
          <a:solidFill>
            <a:schemeClr val="accent1"/>
          </a:solidFill>
          <a:ln/>
        </p:spPr>
        <p:txBody>
          <a:bodyPr/>
          <a:lstStyle/>
          <a:p>
            <a:endParaRPr lang="en-US"/>
          </a:p>
        </p:txBody>
      </p:sp>
      <p:sp>
        <p:nvSpPr>
          <p:cNvPr id="24" name="Text 21"/>
          <p:cNvSpPr txBox="1"/>
          <p:nvPr/>
        </p:nvSpPr>
        <p:spPr>
          <a:xfrm>
            <a:off x="5486400" y="3429000"/>
            <a:ext cx="2788920" cy="548640"/>
          </a:xfrm>
          <a:prstGeom prst="rect">
            <a:avLst/>
          </a:prstGeom>
          <a:noFill/>
          <a:ln/>
        </p:spPr>
        <p:txBody>
          <a:bodyPr wrap="square" lIns="0" tIns="0" rIns="0" bIns="0" rtlCol="0" anchor="ctr"/>
          <a:lstStyle/>
          <a:p>
            <a:pPr marL="0" indent="0" algn="ctr">
              <a:buNone/>
            </a:pPr>
            <a:r>
              <a:rPr lang="en-US" sz="1300" b="1" dirty="0">
                <a:solidFill>
                  <a:schemeClr val="tx1"/>
                </a:solidFill>
              </a:rPr>
              <a:t>Need help now? </a:t>
            </a:r>
            <a:r>
              <a:rPr lang="en-US" sz="1300" dirty="0">
                <a:solidFill>
                  <a:schemeClr val="tx1"/>
                </a:solidFill>
              </a:rPr>
              <a:t>Links to Find A Helpline</a:t>
            </a:r>
            <a:endParaRPr lang="en-US" sz="1300" dirty="0"/>
          </a:p>
        </p:txBody>
      </p:sp>
      <p:sp>
        <p:nvSpPr>
          <p:cNvPr id="25" name="Slide Number Placeholder 0"/>
          <p:cNvSpPr>
            <a:spLocks noGrp="1"/>
          </p:cNvSpPr>
          <p:nvPr>
            <p:ph type="sldNum" sz="quarter" idx="4294967295"/>
          </p:nvPr>
        </p:nvSpPr>
        <p:spPr>
          <a:xfrm>
            <a:off x="548640" y="4736592"/>
            <a:ext cx="45720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548640" y="320040"/>
            <a:ext cx="7223760" cy="685800"/>
          </a:xfrm>
          <a:prstGeom prst="rect">
            <a:avLst/>
          </a:prstGeom>
          <a:noFill/>
          <a:ln/>
        </p:spPr>
        <p:txBody>
          <a:bodyPr wrap="square" lIns="0" tIns="0" rIns="0" bIns="0" rtlCol="0" anchor="ctr"/>
          <a:lstStyle/>
          <a:p>
            <a:pPr marL="0" indent="0" algn="l">
              <a:buNone/>
            </a:pPr>
            <a:r>
              <a:rPr lang="en-US" sz="3000" b="1" dirty="0">
                <a:solidFill>
                  <a:schemeClr val="tx1"/>
                </a:solidFill>
              </a:rPr>
              <a:t>Three roles, clear responsibilities</a:t>
            </a:r>
            <a:endParaRPr lang="en-US" sz="3000" dirty="0"/>
          </a:p>
        </p:txBody>
      </p:sp>
      <p:sp>
        <p:nvSpPr>
          <p:cNvPr id="3" name="Role Member"/>
          <p:cNvSpPr/>
          <p:nvPr/>
        </p:nvSpPr>
        <p:spPr>
          <a:xfrm>
            <a:off x="548640" y="1234440"/>
            <a:ext cx="2560320" cy="2606040"/>
          </a:xfrm>
          <a:prstGeom prst="roundRect">
            <a:avLst>
              <a:gd name="adj" fmla="val 5000"/>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4" name="Icon circle LuUser"/>
          <p:cNvSpPr/>
          <p:nvPr/>
        </p:nvSpPr>
        <p:spPr>
          <a:xfrm>
            <a:off x="777240" y="1463040"/>
            <a:ext cx="685800" cy="685800"/>
          </a:xfrm>
          <a:prstGeom prst="ellipse">
            <a:avLst/>
          </a:prstGeom>
          <a:solidFill>
            <a:schemeClr val="accent1"/>
          </a:solidFill>
          <a:ln/>
        </p:spPr>
        <p:txBody>
          <a:bodyPr/>
          <a:lstStyle/>
          <a:p>
            <a:endParaRPr lang="en-US"/>
          </a:p>
        </p:txBody>
      </p:sp>
      <p:pic>
        <p:nvPicPr>
          <p:cNvPr id="5" name="Image 0" descr="User icon"/>
          <p:cNvPicPr>
            <a:picLocks noChangeAspect="1"/>
          </p:cNvPicPr>
          <p:nvPr/>
        </p:nvPicPr>
        <p:blipFill>
          <a:blip r:embed="rId3"/>
          <a:stretch>
            <a:fillRect/>
          </a:stretch>
        </p:blipFill>
        <p:spPr>
          <a:xfrm>
            <a:off x="941832" y="1627632"/>
            <a:ext cx="356616" cy="356616"/>
          </a:xfrm>
          <a:prstGeom prst="rect">
            <a:avLst/>
          </a:prstGeom>
        </p:spPr>
      </p:pic>
      <p:sp>
        <p:nvSpPr>
          <p:cNvPr id="6" name="Text 3"/>
          <p:cNvSpPr txBox="1"/>
          <p:nvPr/>
        </p:nvSpPr>
        <p:spPr>
          <a:xfrm>
            <a:off x="777240" y="2331720"/>
            <a:ext cx="2103120" cy="365760"/>
          </a:xfrm>
          <a:prstGeom prst="rect">
            <a:avLst/>
          </a:prstGeom>
          <a:noFill/>
          <a:ln/>
        </p:spPr>
        <p:txBody>
          <a:bodyPr wrap="square" lIns="0" tIns="0" rIns="0" bIns="0" rtlCol="0" anchor="t"/>
          <a:lstStyle/>
          <a:p>
            <a:pPr marL="0" indent="0">
              <a:buNone/>
            </a:pPr>
            <a:r>
              <a:rPr lang="en-US" sz="1800" b="1" dirty="0">
                <a:solidFill>
                  <a:schemeClr val="tx1"/>
                </a:solidFill>
                <a:latin typeface="+mj-lt" pitchFamily="34" charset="0"/>
                <a:ea typeface="+mj-lt" pitchFamily="34" charset="-122"/>
                <a:cs typeface="+mj-lt" pitchFamily="34" charset="-120"/>
              </a:rPr>
              <a:t>Member</a:t>
            </a:r>
            <a:endParaRPr lang="en-US" sz="1800" dirty="0"/>
          </a:p>
        </p:txBody>
      </p:sp>
      <p:sp>
        <p:nvSpPr>
          <p:cNvPr id="7" name="Text 4"/>
          <p:cNvSpPr txBox="1"/>
          <p:nvPr/>
        </p:nvSpPr>
        <p:spPr>
          <a:xfrm>
            <a:off x="777240" y="2743200"/>
            <a:ext cx="2103120" cy="1325880"/>
          </a:xfrm>
          <a:prstGeom prst="rect">
            <a:avLst/>
          </a:prstGeom>
          <a:noFill/>
          <a:ln/>
        </p:spPr>
        <p:txBody>
          <a:bodyPr wrap="square" lIns="0" tIns="0" rIns="0" bIns="0" rtlCol="0" anchor="t"/>
          <a:lstStyle/>
          <a:p>
            <a:pPr marL="0" indent="0">
              <a:buNone/>
            </a:pPr>
            <a:r>
              <a:rPr lang="en-US" sz="1300" dirty="0">
                <a:solidFill>
                  <a:schemeClr val="tx2"/>
                </a:solidFill>
              </a:rPr>
              <a:t>Manages a profile, records check-ins, writes journals, talks with the companion, joins circles, and reports posts or comments.</a:t>
            </a:r>
            <a:endParaRPr lang="en-US" sz="1300" dirty="0"/>
          </a:p>
        </p:txBody>
      </p:sp>
      <p:sp>
        <p:nvSpPr>
          <p:cNvPr id="8" name="Role Moderator"/>
          <p:cNvSpPr/>
          <p:nvPr/>
        </p:nvSpPr>
        <p:spPr>
          <a:xfrm>
            <a:off x="3291840" y="1234440"/>
            <a:ext cx="2560320" cy="2606040"/>
          </a:xfrm>
          <a:prstGeom prst="roundRect">
            <a:avLst>
              <a:gd name="adj" fmla="val 5000"/>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9" name="Icon circle LuShield"/>
          <p:cNvSpPr/>
          <p:nvPr/>
        </p:nvSpPr>
        <p:spPr>
          <a:xfrm>
            <a:off x="3520440" y="1463040"/>
            <a:ext cx="685800" cy="685800"/>
          </a:xfrm>
          <a:prstGeom prst="ellipse">
            <a:avLst/>
          </a:prstGeom>
          <a:solidFill>
            <a:schemeClr val="bg2"/>
          </a:solidFill>
          <a:ln/>
        </p:spPr>
        <p:txBody>
          <a:bodyPr/>
          <a:lstStyle/>
          <a:p>
            <a:endParaRPr lang="en-US"/>
          </a:p>
        </p:txBody>
      </p:sp>
      <p:pic>
        <p:nvPicPr>
          <p:cNvPr id="10" name="Image 1" descr="Shield icon"/>
          <p:cNvPicPr>
            <a:picLocks noChangeAspect="1"/>
          </p:cNvPicPr>
          <p:nvPr/>
        </p:nvPicPr>
        <p:blipFill>
          <a:blip r:embed="rId4"/>
          <a:stretch>
            <a:fillRect/>
          </a:stretch>
        </p:blipFill>
        <p:spPr>
          <a:xfrm>
            <a:off x="3685032" y="1627632"/>
            <a:ext cx="356616" cy="356616"/>
          </a:xfrm>
          <a:prstGeom prst="rect">
            <a:avLst/>
          </a:prstGeom>
        </p:spPr>
      </p:pic>
      <p:sp>
        <p:nvSpPr>
          <p:cNvPr id="11" name="Text 7"/>
          <p:cNvSpPr txBox="1"/>
          <p:nvPr/>
        </p:nvSpPr>
        <p:spPr>
          <a:xfrm>
            <a:off x="3520440" y="2331720"/>
            <a:ext cx="2103120" cy="365760"/>
          </a:xfrm>
          <a:prstGeom prst="rect">
            <a:avLst/>
          </a:prstGeom>
          <a:noFill/>
          <a:ln/>
        </p:spPr>
        <p:txBody>
          <a:bodyPr wrap="square" lIns="0" tIns="0" rIns="0" bIns="0" rtlCol="0" anchor="t"/>
          <a:lstStyle/>
          <a:p>
            <a:pPr marL="0" indent="0">
              <a:buNone/>
            </a:pPr>
            <a:r>
              <a:rPr lang="en-US" sz="1800" b="1" dirty="0">
                <a:solidFill>
                  <a:schemeClr val="tx1"/>
                </a:solidFill>
                <a:latin typeface="+mj-lt" pitchFamily="34" charset="0"/>
                <a:ea typeface="+mj-lt" pitchFamily="34" charset="-122"/>
                <a:cs typeface="+mj-lt" pitchFamily="34" charset="-120"/>
              </a:rPr>
              <a:t>Moderator</a:t>
            </a:r>
            <a:endParaRPr lang="en-US" sz="1800" dirty="0"/>
          </a:p>
        </p:txBody>
      </p:sp>
      <p:sp>
        <p:nvSpPr>
          <p:cNvPr id="12" name="Text 8"/>
          <p:cNvSpPr txBox="1"/>
          <p:nvPr/>
        </p:nvSpPr>
        <p:spPr>
          <a:xfrm>
            <a:off x="3520440" y="2743200"/>
            <a:ext cx="2103120" cy="1325880"/>
          </a:xfrm>
          <a:prstGeom prst="rect">
            <a:avLst/>
          </a:prstGeom>
          <a:noFill/>
          <a:ln/>
        </p:spPr>
        <p:txBody>
          <a:bodyPr wrap="square" lIns="0" tIns="0" rIns="0" bIns="0" rtlCol="0" anchor="t"/>
          <a:lstStyle/>
          <a:p>
            <a:pPr marL="0" indent="0">
              <a:buNone/>
            </a:pPr>
            <a:r>
              <a:rPr lang="en-US" sz="1300" dirty="0">
                <a:solidFill>
                  <a:schemeClr val="tx2"/>
                </a:solidFill>
              </a:rPr>
              <a:t>Reviews reported content in authorized circles; pauses posting, restricts or restores access, or removes content.</a:t>
            </a:r>
            <a:endParaRPr lang="en-US" sz="1300" dirty="0"/>
          </a:p>
        </p:txBody>
      </p:sp>
      <p:sp>
        <p:nvSpPr>
          <p:cNvPr id="13" name="Role Administrator"/>
          <p:cNvSpPr/>
          <p:nvPr/>
        </p:nvSpPr>
        <p:spPr>
          <a:xfrm>
            <a:off x="6035040" y="1234440"/>
            <a:ext cx="2560320" cy="2606040"/>
          </a:xfrm>
          <a:prstGeom prst="roundRect">
            <a:avLst>
              <a:gd name="adj" fmla="val 5000"/>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14" name="Icon circle LuUserCog"/>
          <p:cNvSpPr/>
          <p:nvPr/>
        </p:nvSpPr>
        <p:spPr>
          <a:xfrm>
            <a:off x="6263640" y="1463040"/>
            <a:ext cx="685800" cy="685800"/>
          </a:xfrm>
          <a:prstGeom prst="ellipse">
            <a:avLst/>
          </a:prstGeom>
          <a:solidFill>
            <a:schemeClr val="accent2"/>
          </a:solidFill>
          <a:ln/>
        </p:spPr>
        <p:txBody>
          <a:bodyPr/>
          <a:lstStyle/>
          <a:p>
            <a:endParaRPr lang="en-US"/>
          </a:p>
        </p:txBody>
      </p:sp>
      <p:pic>
        <p:nvPicPr>
          <p:cNvPr id="15" name="Image 2" descr="UserCog icon"/>
          <p:cNvPicPr>
            <a:picLocks noChangeAspect="1"/>
          </p:cNvPicPr>
          <p:nvPr/>
        </p:nvPicPr>
        <p:blipFill>
          <a:blip r:embed="rId5"/>
          <a:stretch>
            <a:fillRect/>
          </a:stretch>
        </p:blipFill>
        <p:spPr>
          <a:xfrm>
            <a:off x="6428232" y="1627632"/>
            <a:ext cx="356616" cy="356616"/>
          </a:xfrm>
          <a:prstGeom prst="rect">
            <a:avLst/>
          </a:prstGeom>
        </p:spPr>
      </p:pic>
      <p:sp>
        <p:nvSpPr>
          <p:cNvPr id="16" name="Text 11"/>
          <p:cNvSpPr txBox="1"/>
          <p:nvPr/>
        </p:nvSpPr>
        <p:spPr>
          <a:xfrm>
            <a:off x="6263640" y="2331720"/>
            <a:ext cx="2103120" cy="365760"/>
          </a:xfrm>
          <a:prstGeom prst="rect">
            <a:avLst/>
          </a:prstGeom>
          <a:noFill/>
          <a:ln/>
        </p:spPr>
        <p:txBody>
          <a:bodyPr wrap="square" lIns="0" tIns="0" rIns="0" bIns="0" rtlCol="0" anchor="t"/>
          <a:lstStyle/>
          <a:p>
            <a:pPr marL="0" indent="0">
              <a:buNone/>
            </a:pPr>
            <a:r>
              <a:rPr lang="en-US" sz="1800" b="1" dirty="0">
                <a:solidFill>
                  <a:schemeClr val="tx1"/>
                </a:solidFill>
                <a:latin typeface="+mj-lt" pitchFamily="34" charset="0"/>
                <a:ea typeface="+mj-lt" pitchFamily="34" charset="-122"/>
                <a:cs typeface="+mj-lt" pitchFamily="34" charset="-120"/>
              </a:rPr>
              <a:t>Administrator</a:t>
            </a:r>
            <a:endParaRPr lang="en-US" sz="1800" dirty="0"/>
          </a:p>
        </p:txBody>
      </p:sp>
      <p:sp>
        <p:nvSpPr>
          <p:cNvPr id="17" name="Text 12"/>
          <p:cNvSpPr txBox="1"/>
          <p:nvPr/>
        </p:nvSpPr>
        <p:spPr>
          <a:xfrm>
            <a:off x="6263640" y="2743200"/>
            <a:ext cx="2103120" cy="1325880"/>
          </a:xfrm>
          <a:prstGeom prst="rect">
            <a:avLst/>
          </a:prstGeom>
          <a:noFill/>
          <a:ln/>
        </p:spPr>
        <p:txBody>
          <a:bodyPr wrap="square" lIns="0" tIns="0" rIns="0" bIns="0" rtlCol="0" anchor="t"/>
          <a:lstStyle/>
          <a:p>
            <a:pPr marL="0" indent="0">
              <a:buNone/>
            </a:pPr>
            <a:r>
              <a:rPr lang="en-US" sz="1300" dirty="0">
                <a:solidFill>
                  <a:schemeClr val="tx2"/>
                </a:solidFill>
              </a:rPr>
              <a:t>Accesses admin features such as creating circles, and can perform every moderator action.</a:t>
            </a:r>
            <a:endParaRPr lang="en-US" sz="1300" dirty="0"/>
          </a:p>
        </p:txBody>
      </p:sp>
      <p:sp>
        <p:nvSpPr>
          <p:cNvPr id="25" name="Slide Number Placeholder 0"/>
          <p:cNvSpPr>
            <a:spLocks noGrp="1"/>
          </p:cNvSpPr>
          <p:nvPr>
            <p:ph type="sldNum" sz="quarter" idx="4294967295"/>
          </p:nvPr>
        </p:nvSpPr>
        <p:spPr>
          <a:xfrm>
            <a:off x="548640" y="4736592"/>
            <a:ext cx="45720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548640" y="320040"/>
            <a:ext cx="7223760" cy="685800"/>
          </a:xfrm>
          <a:prstGeom prst="rect">
            <a:avLst/>
          </a:prstGeom>
          <a:noFill/>
          <a:ln/>
        </p:spPr>
        <p:txBody>
          <a:bodyPr wrap="square" lIns="0" tIns="0" rIns="0" bIns="0" rtlCol="0" anchor="ctr"/>
          <a:lstStyle/>
          <a:p>
            <a:pPr marL="0" indent="0" algn="l">
              <a:buNone/>
            </a:pPr>
            <a:r>
              <a:rPr lang="en-US" sz="3000" b="1" dirty="0">
                <a:solidFill>
                  <a:schemeClr val="tx1"/>
                </a:solidFill>
              </a:rPr>
              <a:t>What members can do today</a:t>
            </a:r>
            <a:endParaRPr lang="en-US" sz="3000" dirty="0"/>
          </a:p>
        </p:txBody>
      </p:sp>
      <p:sp>
        <p:nvSpPr>
          <p:cNvPr id="3" name="Capability Account &amp; profile"/>
          <p:cNvSpPr/>
          <p:nvPr/>
        </p:nvSpPr>
        <p:spPr>
          <a:xfrm>
            <a:off x="548640" y="1143000"/>
            <a:ext cx="2578608" cy="822960"/>
          </a:xfrm>
          <a:prstGeom prst="roundRect">
            <a:avLst>
              <a:gd name="adj" fmla="val 15556"/>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4" name="Icon circle LuLogIn"/>
          <p:cNvSpPr/>
          <p:nvPr/>
        </p:nvSpPr>
        <p:spPr>
          <a:xfrm>
            <a:off x="685800" y="1325880"/>
            <a:ext cx="457200" cy="457200"/>
          </a:xfrm>
          <a:prstGeom prst="ellipse">
            <a:avLst/>
          </a:prstGeom>
          <a:solidFill>
            <a:schemeClr val="accent1"/>
          </a:solidFill>
          <a:ln/>
        </p:spPr>
        <p:txBody>
          <a:bodyPr/>
          <a:lstStyle/>
          <a:p>
            <a:endParaRPr lang="en-US"/>
          </a:p>
        </p:txBody>
      </p:sp>
      <p:pic>
        <p:nvPicPr>
          <p:cNvPr id="5" name="Image 0" descr="LogIn icon"/>
          <p:cNvPicPr>
            <a:picLocks noChangeAspect="1"/>
          </p:cNvPicPr>
          <p:nvPr/>
        </p:nvPicPr>
        <p:blipFill>
          <a:blip r:embed="rId3"/>
          <a:stretch>
            <a:fillRect/>
          </a:stretch>
        </p:blipFill>
        <p:spPr>
          <a:xfrm>
            <a:off x="795528" y="1435608"/>
            <a:ext cx="237744" cy="237744"/>
          </a:xfrm>
          <a:prstGeom prst="rect">
            <a:avLst/>
          </a:prstGeom>
        </p:spPr>
      </p:pic>
      <p:sp>
        <p:nvSpPr>
          <p:cNvPr id="6" name="Text 3"/>
          <p:cNvSpPr txBox="1"/>
          <p:nvPr/>
        </p:nvSpPr>
        <p:spPr>
          <a:xfrm>
            <a:off x="1280160" y="1271016"/>
            <a:ext cx="1783080" cy="274320"/>
          </a:xfrm>
          <a:prstGeom prst="rect">
            <a:avLst/>
          </a:prstGeom>
          <a:noFill/>
          <a:ln/>
        </p:spPr>
        <p:txBody>
          <a:bodyPr wrap="square" lIns="0" tIns="0" rIns="0" bIns="0" rtlCol="0" anchor="t"/>
          <a:lstStyle/>
          <a:p>
            <a:pPr marL="0" indent="0">
              <a:buNone/>
            </a:pPr>
            <a:r>
              <a:rPr lang="en-US" sz="1300" b="1" dirty="0">
                <a:solidFill>
                  <a:schemeClr val="tx1"/>
                </a:solidFill>
              </a:rPr>
              <a:t>Account &amp; profile</a:t>
            </a:r>
            <a:endParaRPr lang="en-US" sz="1300" dirty="0"/>
          </a:p>
        </p:txBody>
      </p:sp>
      <p:sp>
        <p:nvSpPr>
          <p:cNvPr id="7" name="Text 4"/>
          <p:cNvSpPr txBox="1"/>
          <p:nvPr/>
        </p:nvSpPr>
        <p:spPr>
          <a:xfrm>
            <a:off x="1280160" y="1545336"/>
            <a:ext cx="1783080" cy="365760"/>
          </a:xfrm>
          <a:prstGeom prst="rect">
            <a:avLst/>
          </a:prstGeom>
          <a:noFill/>
          <a:ln/>
        </p:spPr>
        <p:txBody>
          <a:bodyPr wrap="square" lIns="0" tIns="0" rIns="0" bIns="0" rtlCol="0" anchor="t"/>
          <a:lstStyle/>
          <a:p>
            <a:pPr marL="0" indent="0">
              <a:buNone/>
            </a:pPr>
            <a:r>
              <a:rPr lang="en-US" sz="1100" dirty="0">
                <a:solidFill>
                  <a:schemeClr val="tx2"/>
                </a:solidFill>
              </a:rPr>
              <a:t>Sign-in, sessions, aliases, avatars</a:t>
            </a:r>
            <a:endParaRPr lang="en-US" sz="1100" dirty="0"/>
          </a:p>
        </p:txBody>
      </p:sp>
      <p:sp>
        <p:nvSpPr>
          <p:cNvPr id="8" name="Capability Daily check-ins"/>
          <p:cNvSpPr/>
          <p:nvPr/>
        </p:nvSpPr>
        <p:spPr>
          <a:xfrm>
            <a:off x="3273552" y="1143000"/>
            <a:ext cx="2578608" cy="822960"/>
          </a:xfrm>
          <a:prstGeom prst="roundRect">
            <a:avLst>
              <a:gd name="adj" fmla="val 15556"/>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9" name="Icon circle LuSmile"/>
          <p:cNvSpPr/>
          <p:nvPr/>
        </p:nvSpPr>
        <p:spPr>
          <a:xfrm>
            <a:off x="3410712" y="1325880"/>
            <a:ext cx="457200" cy="457200"/>
          </a:xfrm>
          <a:prstGeom prst="ellipse">
            <a:avLst/>
          </a:prstGeom>
          <a:solidFill>
            <a:schemeClr val="accent1"/>
          </a:solidFill>
          <a:ln/>
        </p:spPr>
        <p:txBody>
          <a:bodyPr/>
          <a:lstStyle/>
          <a:p>
            <a:endParaRPr lang="en-US"/>
          </a:p>
        </p:txBody>
      </p:sp>
      <p:pic>
        <p:nvPicPr>
          <p:cNvPr id="10" name="Image 1" descr="Smile icon"/>
          <p:cNvPicPr>
            <a:picLocks noChangeAspect="1"/>
          </p:cNvPicPr>
          <p:nvPr/>
        </p:nvPicPr>
        <p:blipFill>
          <a:blip r:embed="rId4"/>
          <a:stretch>
            <a:fillRect/>
          </a:stretch>
        </p:blipFill>
        <p:spPr>
          <a:xfrm>
            <a:off x="3520440" y="1435608"/>
            <a:ext cx="237744" cy="237744"/>
          </a:xfrm>
          <a:prstGeom prst="rect">
            <a:avLst/>
          </a:prstGeom>
        </p:spPr>
      </p:pic>
      <p:sp>
        <p:nvSpPr>
          <p:cNvPr id="11" name="Text 7"/>
          <p:cNvSpPr txBox="1"/>
          <p:nvPr/>
        </p:nvSpPr>
        <p:spPr>
          <a:xfrm>
            <a:off x="4005072" y="1271016"/>
            <a:ext cx="1783080" cy="274320"/>
          </a:xfrm>
          <a:prstGeom prst="rect">
            <a:avLst/>
          </a:prstGeom>
          <a:noFill/>
          <a:ln/>
        </p:spPr>
        <p:txBody>
          <a:bodyPr wrap="square" lIns="0" tIns="0" rIns="0" bIns="0" rtlCol="0" anchor="t"/>
          <a:lstStyle/>
          <a:p>
            <a:pPr marL="0" indent="0">
              <a:buNone/>
            </a:pPr>
            <a:r>
              <a:rPr lang="en-US" sz="1300" b="1" dirty="0">
                <a:solidFill>
                  <a:schemeClr val="tx1"/>
                </a:solidFill>
              </a:rPr>
              <a:t>Daily check-ins</a:t>
            </a:r>
            <a:endParaRPr lang="en-US" sz="1300" dirty="0"/>
          </a:p>
        </p:txBody>
      </p:sp>
      <p:sp>
        <p:nvSpPr>
          <p:cNvPr id="12" name="Text 8"/>
          <p:cNvSpPr txBox="1"/>
          <p:nvPr/>
        </p:nvSpPr>
        <p:spPr>
          <a:xfrm>
            <a:off x="4005072" y="1545336"/>
            <a:ext cx="1783080" cy="365760"/>
          </a:xfrm>
          <a:prstGeom prst="rect">
            <a:avLst/>
          </a:prstGeom>
          <a:noFill/>
          <a:ln/>
        </p:spPr>
        <p:txBody>
          <a:bodyPr wrap="square" lIns="0" tIns="0" rIns="0" bIns="0" rtlCol="0" anchor="t"/>
          <a:lstStyle/>
          <a:p>
            <a:pPr marL="0" indent="0">
              <a:buNone/>
            </a:pPr>
            <a:r>
              <a:rPr lang="en-US" sz="1100" dirty="0">
                <a:solidFill>
                  <a:schemeClr val="tx2"/>
                </a:solidFill>
              </a:rPr>
              <a:t>History, table, and monthly calendar</a:t>
            </a:r>
            <a:endParaRPr lang="en-US" sz="1100" dirty="0"/>
          </a:p>
        </p:txBody>
      </p:sp>
      <p:sp>
        <p:nvSpPr>
          <p:cNvPr id="13" name="Capability Private journal"/>
          <p:cNvSpPr/>
          <p:nvPr/>
        </p:nvSpPr>
        <p:spPr>
          <a:xfrm>
            <a:off x="5998464" y="1143000"/>
            <a:ext cx="2578608" cy="822960"/>
          </a:xfrm>
          <a:prstGeom prst="roundRect">
            <a:avLst>
              <a:gd name="adj" fmla="val 15556"/>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14" name="Icon circle LuNotebookPen"/>
          <p:cNvSpPr/>
          <p:nvPr/>
        </p:nvSpPr>
        <p:spPr>
          <a:xfrm>
            <a:off x="6135624" y="1325880"/>
            <a:ext cx="457200" cy="457200"/>
          </a:xfrm>
          <a:prstGeom prst="ellipse">
            <a:avLst/>
          </a:prstGeom>
          <a:solidFill>
            <a:schemeClr val="accent1"/>
          </a:solidFill>
          <a:ln/>
        </p:spPr>
        <p:txBody>
          <a:bodyPr/>
          <a:lstStyle/>
          <a:p>
            <a:endParaRPr lang="en-US"/>
          </a:p>
        </p:txBody>
      </p:sp>
      <p:pic>
        <p:nvPicPr>
          <p:cNvPr id="15" name="Image 2" descr="NotebookPen icon"/>
          <p:cNvPicPr>
            <a:picLocks noChangeAspect="1"/>
          </p:cNvPicPr>
          <p:nvPr/>
        </p:nvPicPr>
        <p:blipFill>
          <a:blip r:embed="rId5"/>
          <a:stretch>
            <a:fillRect/>
          </a:stretch>
        </p:blipFill>
        <p:spPr>
          <a:xfrm>
            <a:off x="6245352" y="1435608"/>
            <a:ext cx="237744" cy="237744"/>
          </a:xfrm>
          <a:prstGeom prst="rect">
            <a:avLst/>
          </a:prstGeom>
        </p:spPr>
      </p:pic>
      <p:sp>
        <p:nvSpPr>
          <p:cNvPr id="16" name="Text 11"/>
          <p:cNvSpPr txBox="1"/>
          <p:nvPr/>
        </p:nvSpPr>
        <p:spPr>
          <a:xfrm>
            <a:off x="6729984" y="1271016"/>
            <a:ext cx="1783080" cy="274320"/>
          </a:xfrm>
          <a:prstGeom prst="rect">
            <a:avLst/>
          </a:prstGeom>
          <a:noFill/>
          <a:ln/>
        </p:spPr>
        <p:txBody>
          <a:bodyPr wrap="square" lIns="0" tIns="0" rIns="0" bIns="0" rtlCol="0" anchor="t"/>
          <a:lstStyle/>
          <a:p>
            <a:pPr marL="0" indent="0">
              <a:buNone/>
            </a:pPr>
            <a:r>
              <a:rPr lang="en-US" sz="1300" b="1" dirty="0">
                <a:solidFill>
                  <a:schemeClr val="tx1"/>
                </a:solidFill>
              </a:rPr>
              <a:t>Private journal</a:t>
            </a:r>
            <a:endParaRPr lang="en-US" sz="1300" dirty="0"/>
          </a:p>
        </p:txBody>
      </p:sp>
      <p:sp>
        <p:nvSpPr>
          <p:cNvPr id="17" name="Text 12"/>
          <p:cNvSpPr txBox="1"/>
          <p:nvPr/>
        </p:nvSpPr>
        <p:spPr>
          <a:xfrm>
            <a:off x="6729984" y="1545336"/>
            <a:ext cx="1783080" cy="365760"/>
          </a:xfrm>
          <a:prstGeom prst="rect">
            <a:avLst/>
          </a:prstGeom>
          <a:noFill/>
          <a:ln/>
        </p:spPr>
        <p:txBody>
          <a:bodyPr wrap="square" lIns="0" tIns="0" rIns="0" bIns="0" rtlCol="0" anchor="t"/>
          <a:lstStyle/>
          <a:p>
            <a:pPr marL="0" indent="0">
              <a:buNone/>
            </a:pPr>
            <a:r>
              <a:rPr lang="en-US" sz="1100" dirty="0">
                <a:solidFill>
                  <a:schemeClr val="tx2"/>
                </a:solidFill>
              </a:rPr>
              <a:t>Create, edit, delete, paginated reading</a:t>
            </a:r>
            <a:endParaRPr lang="en-US" sz="1100" dirty="0"/>
          </a:p>
        </p:txBody>
      </p:sp>
      <p:sp>
        <p:nvSpPr>
          <p:cNvPr id="18" name="Capability Companion chat"/>
          <p:cNvSpPr/>
          <p:nvPr/>
        </p:nvSpPr>
        <p:spPr>
          <a:xfrm>
            <a:off x="548640" y="2130552"/>
            <a:ext cx="2578608" cy="822960"/>
          </a:xfrm>
          <a:prstGeom prst="roundRect">
            <a:avLst>
              <a:gd name="adj" fmla="val 15556"/>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19" name="Icon circle LuBot"/>
          <p:cNvSpPr/>
          <p:nvPr/>
        </p:nvSpPr>
        <p:spPr>
          <a:xfrm>
            <a:off x="685800" y="2313432"/>
            <a:ext cx="457200" cy="457200"/>
          </a:xfrm>
          <a:prstGeom prst="ellipse">
            <a:avLst/>
          </a:prstGeom>
          <a:solidFill>
            <a:schemeClr val="accent1"/>
          </a:solidFill>
          <a:ln/>
        </p:spPr>
        <p:txBody>
          <a:bodyPr/>
          <a:lstStyle/>
          <a:p>
            <a:endParaRPr lang="en-US"/>
          </a:p>
        </p:txBody>
      </p:sp>
      <p:pic>
        <p:nvPicPr>
          <p:cNvPr id="20" name="Image 3" descr="Bot icon"/>
          <p:cNvPicPr>
            <a:picLocks noChangeAspect="1"/>
          </p:cNvPicPr>
          <p:nvPr/>
        </p:nvPicPr>
        <p:blipFill>
          <a:blip r:embed="rId6"/>
          <a:stretch>
            <a:fillRect/>
          </a:stretch>
        </p:blipFill>
        <p:spPr>
          <a:xfrm>
            <a:off x="795528" y="2423160"/>
            <a:ext cx="237744" cy="237744"/>
          </a:xfrm>
          <a:prstGeom prst="rect">
            <a:avLst/>
          </a:prstGeom>
        </p:spPr>
      </p:pic>
      <p:sp>
        <p:nvSpPr>
          <p:cNvPr id="21" name="Text 15"/>
          <p:cNvSpPr txBox="1"/>
          <p:nvPr/>
        </p:nvSpPr>
        <p:spPr>
          <a:xfrm>
            <a:off x="1280160" y="2258568"/>
            <a:ext cx="1783080" cy="274320"/>
          </a:xfrm>
          <a:prstGeom prst="rect">
            <a:avLst/>
          </a:prstGeom>
          <a:noFill/>
          <a:ln/>
        </p:spPr>
        <p:txBody>
          <a:bodyPr wrap="square" lIns="0" tIns="0" rIns="0" bIns="0" rtlCol="0" anchor="t"/>
          <a:lstStyle/>
          <a:p>
            <a:pPr marL="0" indent="0">
              <a:buNone/>
            </a:pPr>
            <a:r>
              <a:rPr lang="en-US" sz="1300" b="1" dirty="0">
                <a:solidFill>
                  <a:schemeClr val="tx1"/>
                </a:solidFill>
              </a:rPr>
              <a:t>Companion chat</a:t>
            </a:r>
            <a:endParaRPr lang="en-US" sz="1300" dirty="0"/>
          </a:p>
        </p:txBody>
      </p:sp>
      <p:sp>
        <p:nvSpPr>
          <p:cNvPr id="22" name="Text 16"/>
          <p:cNvSpPr txBox="1"/>
          <p:nvPr/>
        </p:nvSpPr>
        <p:spPr>
          <a:xfrm>
            <a:off x="1280160" y="2532888"/>
            <a:ext cx="1783080" cy="365760"/>
          </a:xfrm>
          <a:prstGeom prst="rect">
            <a:avLst/>
          </a:prstGeom>
          <a:noFill/>
          <a:ln/>
        </p:spPr>
        <p:txBody>
          <a:bodyPr wrap="square" lIns="0" tIns="0" rIns="0" bIns="0" rtlCol="0" anchor="t"/>
          <a:lstStyle/>
          <a:p>
            <a:pPr marL="0" indent="0">
              <a:buNone/>
            </a:pPr>
            <a:r>
              <a:rPr lang="en-US" sz="1100" dirty="0">
                <a:solidFill>
                  <a:schemeClr val="tx2"/>
                </a:solidFill>
              </a:rPr>
              <a:t>Saved chats, renaming, optional memory</a:t>
            </a:r>
            <a:endParaRPr lang="en-US" sz="1100" dirty="0"/>
          </a:p>
        </p:txBody>
      </p:sp>
      <p:sp>
        <p:nvSpPr>
          <p:cNvPr id="23" name="Capability Circles"/>
          <p:cNvSpPr/>
          <p:nvPr/>
        </p:nvSpPr>
        <p:spPr>
          <a:xfrm>
            <a:off x="3273552" y="2130552"/>
            <a:ext cx="2578608" cy="822960"/>
          </a:xfrm>
          <a:prstGeom prst="roundRect">
            <a:avLst>
              <a:gd name="adj" fmla="val 15556"/>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24" name="Icon circle LuUsers"/>
          <p:cNvSpPr/>
          <p:nvPr/>
        </p:nvSpPr>
        <p:spPr>
          <a:xfrm>
            <a:off x="3410712" y="2313432"/>
            <a:ext cx="457200" cy="457200"/>
          </a:xfrm>
          <a:prstGeom prst="ellipse">
            <a:avLst/>
          </a:prstGeom>
          <a:solidFill>
            <a:schemeClr val="accent1"/>
          </a:solidFill>
          <a:ln/>
        </p:spPr>
        <p:txBody>
          <a:bodyPr/>
          <a:lstStyle/>
          <a:p>
            <a:endParaRPr lang="en-US"/>
          </a:p>
        </p:txBody>
      </p:sp>
      <p:pic>
        <p:nvPicPr>
          <p:cNvPr id="25" name="Image 4" descr="Users icon"/>
          <p:cNvPicPr>
            <a:picLocks noChangeAspect="1"/>
          </p:cNvPicPr>
          <p:nvPr/>
        </p:nvPicPr>
        <p:blipFill>
          <a:blip r:embed="rId7"/>
          <a:stretch>
            <a:fillRect/>
          </a:stretch>
        </p:blipFill>
        <p:spPr>
          <a:xfrm>
            <a:off x="3520440" y="2423160"/>
            <a:ext cx="237744" cy="237744"/>
          </a:xfrm>
          <a:prstGeom prst="rect">
            <a:avLst/>
          </a:prstGeom>
        </p:spPr>
      </p:pic>
      <p:sp>
        <p:nvSpPr>
          <p:cNvPr id="26" name="Text 19"/>
          <p:cNvSpPr txBox="1"/>
          <p:nvPr/>
        </p:nvSpPr>
        <p:spPr>
          <a:xfrm>
            <a:off x="4005072" y="2258568"/>
            <a:ext cx="1783080" cy="274320"/>
          </a:xfrm>
          <a:prstGeom prst="rect">
            <a:avLst/>
          </a:prstGeom>
          <a:noFill/>
          <a:ln/>
        </p:spPr>
        <p:txBody>
          <a:bodyPr wrap="square" lIns="0" tIns="0" rIns="0" bIns="0" rtlCol="0" anchor="t"/>
          <a:lstStyle/>
          <a:p>
            <a:pPr marL="0" indent="0">
              <a:buNone/>
            </a:pPr>
            <a:r>
              <a:rPr lang="en-US" sz="1300" b="1" dirty="0">
                <a:solidFill>
                  <a:schemeClr val="tx1"/>
                </a:solidFill>
              </a:rPr>
              <a:t>Circles</a:t>
            </a:r>
            <a:endParaRPr lang="en-US" sz="1300" dirty="0"/>
          </a:p>
        </p:txBody>
      </p:sp>
      <p:sp>
        <p:nvSpPr>
          <p:cNvPr id="27" name="Text 20"/>
          <p:cNvSpPr txBox="1"/>
          <p:nvPr/>
        </p:nvSpPr>
        <p:spPr>
          <a:xfrm>
            <a:off x="4005072" y="2532888"/>
            <a:ext cx="1783080" cy="365760"/>
          </a:xfrm>
          <a:prstGeom prst="rect">
            <a:avLst/>
          </a:prstGeom>
          <a:noFill/>
          <a:ln/>
        </p:spPr>
        <p:txBody>
          <a:bodyPr wrap="square" lIns="0" tIns="0" rIns="0" bIns="0" rtlCol="0" anchor="t"/>
          <a:lstStyle/>
          <a:p>
            <a:pPr marL="0" indent="0">
              <a:buNone/>
            </a:pPr>
            <a:r>
              <a:rPr lang="en-US" sz="1100" dirty="0">
                <a:solidFill>
                  <a:schemeClr val="tx2"/>
                </a:solidFill>
              </a:rPr>
              <a:t>Posts, comments, supportive reactions</a:t>
            </a:r>
            <a:endParaRPr lang="en-US" sz="1100" dirty="0"/>
          </a:p>
        </p:txBody>
      </p:sp>
      <p:sp>
        <p:nvSpPr>
          <p:cNvPr id="28" name="Capability Live circle chat"/>
          <p:cNvSpPr/>
          <p:nvPr/>
        </p:nvSpPr>
        <p:spPr>
          <a:xfrm>
            <a:off x="5998464" y="2130552"/>
            <a:ext cx="2578608" cy="822960"/>
          </a:xfrm>
          <a:prstGeom prst="roundRect">
            <a:avLst>
              <a:gd name="adj" fmla="val 15556"/>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29" name="Icon circle LuMessagesSquare"/>
          <p:cNvSpPr/>
          <p:nvPr/>
        </p:nvSpPr>
        <p:spPr>
          <a:xfrm>
            <a:off x="6135624" y="2313432"/>
            <a:ext cx="457200" cy="457200"/>
          </a:xfrm>
          <a:prstGeom prst="ellipse">
            <a:avLst/>
          </a:prstGeom>
          <a:solidFill>
            <a:schemeClr val="accent1"/>
          </a:solidFill>
          <a:ln/>
        </p:spPr>
        <p:txBody>
          <a:bodyPr/>
          <a:lstStyle/>
          <a:p>
            <a:endParaRPr lang="en-US"/>
          </a:p>
        </p:txBody>
      </p:sp>
      <p:pic>
        <p:nvPicPr>
          <p:cNvPr id="30" name="Image 5" descr="MessagesSquare icon"/>
          <p:cNvPicPr>
            <a:picLocks noChangeAspect="1"/>
          </p:cNvPicPr>
          <p:nvPr/>
        </p:nvPicPr>
        <p:blipFill>
          <a:blip r:embed="rId8"/>
          <a:stretch>
            <a:fillRect/>
          </a:stretch>
        </p:blipFill>
        <p:spPr>
          <a:xfrm>
            <a:off x="6245352" y="2423160"/>
            <a:ext cx="237744" cy="237744"/>
          </a:xfrm>
          <a:prstGeom prst="rect">
            <a:avLst/>
          </a:prstGeom>
        </p:spPr>
      </p:pic>
      <p:sp>
        <p:nvSpPr>
          <p:cNvPr id="31" name="Text 23"/>
          <p:cNvSpPr txBox="1"/>
          <p:nvPr/>
        </p:nvSpPr>
        <p:spPr>
          <a:xfrm>
            <a:off x="6729984" y="2258568"/>
            <a:ext cx="1783080" cy="274320"/>
          </a:xfrm>
          <a:prstGeom prst="rect">
            <a:avLst/>
          </a:prstGeom>
          <a:noFill/>
          <a:ln/>
        </p:spPr>
        <p:txBody>
          <a:bodyPr wrap="square" lIns="0" tIns="0" rIns="0" bIns="0" rtlCol="0" anchor="t"/>
          <a:lstStyle/>
          <a:p>
            <a:pPr marL="0" indent="0">
              <a:buNone/>
            </a:pPr>
            <a:r>
              <a:rPr lang="en-US" sz="1300" b="1" dirty="0">
                <a:solidFill>
                  <a:schemeClr val="tx1"/>
                </a:solidFill>
              </a:rPr>
              <a:t>Live circle chat</a:t>
            </a:r>
            <a:endParaRPr lang="en-US" sz="1300" dirty="0"/>
          </a:p>
        </p:txBody>
      </p:sp>
      <p:sp>
        <p:nvSpPr>
          <p:cNvPr id="32" name="Text 24"/>
          <p:cNvSpPr txBox="1"/>
          <p:nvPr/>
        </p:nvSpPr>
        <p:spPr>
          <a:xfrm>
            <a:off x="6729984" y="2532888"/>
            <a:ext cx="1783080" cy="365760"/>
          </a:xfrm>
          <a:prstGeom prst="rect">
            <a:avLst/>
          </a:prstGeom>
          <a:noFill/>
          <a:ln/>
        </p:spPr>
        <p:txBody>
          <a:bodyPr wrap="square" lIns="0" tIns="0" rIns="0" bIns="0" rtlCol="0" anchor="t"/>
          <a:lstStyle/>
          <a:p>
            <a:pPr marL="0" indent="0">
              <a:buNone/>
            </a:pPr>
            <a:r>
              <a:rPr lang="en-US" sz="1100" dirty="0">
                <a:solidFill>
                  <a:schemeClr val="tx2"/>
                </a:solidFill>
              </a:rPr>
              <a:t>Latest 50 messages, older on demand</a:t>
            </a:r>
            <a:endParaRPr lang="en-US" sz="1100" dirty="0"/>
          </a:p>
        </p:txBody>
      </p:sp>
      <p:sp>
        <p:nvSpPr>
          <p:cNvPr id="33" name="Capability Reporting"/>
          <p:cNvSpPr/>
          <p:nvPr/>
        </p:nvSpPr>
        <p:spPr>
          <a:xfrm>
            <a:off x="3273552" y="3246120"/>
            <a:ext cx="2578608" cy="822960"/>
          </a:xfrm>
          <a:prstGeom prst="roundRect">
            <a:avLst>
              <a:gd name="adj" fmla="val 15556"/>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34" name="Icon circle LuFlag"/>
          <p:cNvSpPr/>
          <p:nvPr/>
        </p:nvSpPr>
        <p:spPr>
          <a:xfrm>
            <a:off x="3410712" y="3429000"/>
            <a:ext cx="457200" cy="457200"/>
          </a:xfrm>
          <a:prstGeom prst="ellipse">
            <a:avLst/>
          </a:prstGeom>
          <a:solidFill>
            <a:schemeClr val="accent1"/>
          </a:solidFill>
          <a:ln/>
        </p:spPr>
        <p:txBody>
          <a:bodyPr/>
          <a:lstStyle/>
          <a:p>
            <a:endParaRPr lang="en-US"/>
          </a:p>
        </p:txBody>
      </p:sp>
      <p:pic>
        <p:nvPicPr>
          <p:cNvPr id="35" name="Image 6" descr="Flag icon"/>
          <p:cNvPicPr>
            <a:picLocks noChangeAspect="1"/>
          </p:cNvPicPr>
          <p:nvPr/>
        </p:nvPicPr>
        <p:blipFill>
          <a:blip r:embed="rId9"/>
          <a:stretch>
            <a:fillRect/>
          </a:stretch>
        </p:blipFill>
        <p:spPr>
          <a:xfrm>
            <a:off x="3520440" y="3538728"/>
            <a:ext cx="237744" cy="237744"/>
          </a:xfrm>
          <a:prstGeom prst="rect">
            <a:avLst/>
          </a:prstGeom>
        </p:spPr>
      </p:pic>
      <p:sp>
        <p:nvSpPr>
          <p:cNvPr id="36" name="Text 27"/>
          <p:cNvSpPr txBox="1"/>
          <p:nvPr/>
        </p:nvSpPr>
        <p:spPr>
          <a:xfrm>
            <a:off x="4005072" y="3374136"/>
            <a:ext cx="1783080" cy="274320"/>
          </a:xfrm>
          <a:prstGeom prst="rect">
            <a:avLst/>
          </a:prstGeom>
          <a:noFill/>
          <a:ln/>
        </p:spPr>
        <p:txBody>
          <a:bodyPr wrap="square" lIns="0" tIns="0" rIns="0" bIns="0" rtlCol="0" anchor="t"/>
          <a:lstStyle/>
          <a:p>
            <a:pPr marL="0" indent="0">
              <a:buNone/>
            </a:pPr>
            <a:r>
              <a:rPr lang="en-US" sz="1300" b="1" dirty="0">
                <a:solidFill>
                  <a:schemeClr val="tx1"/>
                </a:solidFill>
              </a:rPr>
              <a:t>Reporting</a:t>
            </a:r>
            <a:endParaRPr lang="en-US" sz="1300" dirty="0"/>
          </a:p>
        </p:txBody>
      </p:sp>
      <p:sp>
        <p:nvSpPr>
          <p:cNvPr id="37" name="Text 28"/>
          <p:cNvSpPr txBox="1"/>
          <p:nvPr/>
        </p:nvSpPr>
        <p:spPr>
          <a:xfrm>
            <a:off x="4005072" y="3648456"/>
            <a:ext cx="1783080" cy="365760"/>
          </a:xfrm>
          <a:prstGeom prst="rect">
            <a:avLst/>
          </a:prstGeom>
          <a:noFill/>
          <a:ln/>
        </p:spPr>
        <p:txBody>
          <a:bodyPr wrap="square" lIns="0" tIns="0" rIns="0" bIns="0" rtlCol="0" anchor="t"/>
          <a:lstStyle/>
          <a:p>
            <a:pPr marL="0" indent="0">
              <a:buNone/>
            </a:pPr>
            <a:r>
              <a:rPr lang="en-US" sz="1100" dirty="0">
                <a:solidFill>
                  <a:schemeClr val="tx2"/>
                </a:solidFill>
              </a:rPr>
              <a:t>No self-reports; time-limited restrictions</a:t>
            </a:r>
            <a:endParaRPr lang="en-US" sz="1100" dirty="0"/>
          </a:p>
        </p:txBody>
      </p:sp>
      <p:sp>
        <p:nvSpPr>
          <p:cNvPr id="48" name="Text 37"/>
          <p:cNvSpPr txBox="1"/>
          <p:nvPr/>
        </p:nvSpPr>
        <p:spPr>
          <a:xfrm>
            <a:off x="548640" y="4361688"/>
            <a:ext cx="6675120" cy="274320"/>
          </a:xfrm>
          <a:prstGeom prst="rect">
            <a:avLst/>
          </a:prstGeom>
          <a:noFill/>
          <a:ln/>
        </p:spPr>
        <p:txBody>
          <a:bodyPr wrap="square" lIns="0" tIns="0" rIns="0" bIns="0" rtlCol="0" anchor="t"/>
          <a:lstStyle/>
          <a:p>
            <a:pPr marL="0" indent="0">
              <a:buNone/>
            </a:pPr>
            <a:r>
              <a:rPr lang="en-US" sz="1100" i="1" dirty="0">
                <a:solidFill>
                  <a:schemeClr val="tx2"/>
                </a:solidFill>
              </a:rPr>
              <a:t>Out of scope: clinical diagnosis, appointments, professional messaging, payments, and emergency dispatch.</a:t>
            </a:r>
            <a:endParaRPr lang="en-US" sz="1100" dirty="0"/>
          </a:p>
        </p:txBody>
      </p:sp>
      <p:sp>
        <p:nvSpPr>
          <p:cNvPr id="49" name="Slide Number Placeholder 0"/>
          <p:cNvSpPr>
            <a:spLocks noGrp="1"/>
          </p:cNvSpPr>
          <p:nvPr>
            <p:ph type="sldNum" sz="quarter" idx="4294967295"/>
          </p:nvPr>
        </p:nvSpPr>
        <p:spPr>
          <a:xfrm>
            <a:off x="548640" y="4736592"/>
            <a:ext cx="45720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548640" y="320040"/>
            <a:ext cx="7223760" cy="685800"/>
          </a:xfrm>
          <a:prstGeom prst="rect">
            <a:avLst/>
          </a:prstGeom>
          <a:noFill/>
          <a:ln/>
        </p:spPr>
        <p:txBody>
          <a:bodyPr wrap="square" lIns="0" tIns="0" rIns="0" bIns="0" rtlCol="0" anchor="ctr"/>
          <a:lstStyle/>
          <a:p>
            <a:pPr marL="0" indent="0" algn="l">
              <a:buNone/>
            </a:pPr>
            <a:r>
              <a:rPr lang="en-US" sz="3000" b="1" dirty="0">
                <a:solidFill>
                  <a:schemeClr val="tx1"/>
                </a:solidFill>
              </a:rPr>
              <a:t>How the pieces fit together</a:t>
            </a:r>
            <a:endParaRPr lang="en-US" sz="3000" dirty="0"/>
          </a:p>
        </p:txBody>
      </p:sp>
      <p:sp>
        <p:nvSpPr>
          <p:cNvPr id="3" name="Flow step 1"/>
          <p:cNvSpPr/>
          <p:nvPr/>
        </p:nvSpPr>
        <p:spPr>
          <a:xfrm>
            <a:off x="548640" y="1234440"/>
            <a:ext cx="384048" cy="384048"/>
          </a:xfrm>
          <a:prstGeom prst="roundRect">
            <a:avLst>
              <a:gd name="adj" fmla="val 23810"/>
            </a:avLst>
          </a:prstGeom>
          <a:solidFill>
            <a:schemeClr val="accent1"/>
          </a:solidFill>
          <a:ln/>
        </p:spPr>
        <p:txBody>
          <a:bodyPr/>
          <a:lstStyle/>
          <a:p>
            <a:endParaRPr lang="en-US"/>
          </a:p>
        </p:txBody>
      </p:sp>
      <p:sp>
        <p:nvSpPr>
          <p:cNvPr id="4" name="Text 2"/>
          <p:cNvSpPr txBox="1"/>
          <p:nvPr/>
        </p:nvSpPr>
        <p:spPr>
          <a:xfrm>
            <a:off x="548640" y="1234440"/>
            <a:ext cx="384048" cy="384048"/>
          </a:xfrm>
          <a:prstGeom prst="rect">
            <a:avLst/>
          </a:prstGeom>
          <a:noFill/>
          <a:ln/>
        </p:spPr>
        <p:txBody>
          <a:bodyPr wrap="square" lIns="0" tIns="0" rIns="0" bIns="0" rtlCol="0" anchor="ctr"/>
          <a:lstStyle/>
          <a:p>
            <a:pPr marL="0" indent="0" algn="ctr">
              <a:buNone/>
            </a:pPr>
            <a:r>
              <a:rPr lang="en-US" sz="1300" b="1" dirty="0">
                <a:solidFill>
                  <a:schemeClr val="tx1"/>
                </a:solidFill>
              </a:rPr>
              <a:t>1</a:t>
            </a:r>
            <a:endParaRPr lang="en-US" sz="1300" dirty="0"/>
          </a:p>
        </p:txBody>
      </p:sp>
      <p:sp>
        <p:nvSpPr>
          <p:cNvPr id="5" name="Text 3"/>
          <p:cNvSpPr txBox="1"/>
          <p:nvPr/>
        </p:nvSpPr>
        <p:spPr>
          <a:xfrm>
            <a:off x="1097280" y="1188720"/>
            <a:ext cx="2743200" cy="502920"/>
          </a:xfrm>
          <a:prstGeom prst="rect">
            <a:avLst/>
          </a:prstGeom>
          <a:noFill/>
          <a:ln/>
        </p:spPr>
        <p:txBody>
          <a:bodyPr wrap="square" lIns="0" tIns="0" rIns="0" bIns="0" rtlCol="0" anchor="ctr"/>
          <a:lstStyle/>
          <a:p>
            <a:pPr marL="0" indent="0">
              <a:buNone/>
            </a:pPr>
            <a:r>
              <a:rPr lang="en-US" sz="1200" dirty="0">
                <a:solidFill>
                  <a:schemeClr val="tx1"/>
                </a:solidFill>
              </a:rPr>
              <a:t>Browser requests enter through Caddy, which forwards to Nginx</a:t>
            </a:r>
            <a:endParaRPr lang="en-US" sz="1200" dirty="0"/>
          </a:p>
        </p:txBody>
      </p:sp>
      <p:sp>
        <p:nvSpPr>
          <p:cNvPr id="6" name="Flow step 2"/>
          <p:cNvSpPr/>
          <p:nvPr/>
        </p:nvSpPr>
        <p:spPr>
          <a:xfrm>
            <a:off x="548640" y="1856232"/>
            <a:ext cx="384048" cy="384048"/>
          </a:xfrm>
          <a:prstGeom prst="roundRect">
            <a:avLst>
              <a:gd name="adj" fmla="val 23810"/>
            </a:avLst>
          </a:prstGeom>
          <a:solidFill>
            <a:schemeClr val="accent1"/>
          </a:solidFill>
          <a:ln/>
        </p:spPr>
        <p:txBody>
          <a:bodyPr/>
          <a:lstStyle/>
          <a:p>
            <a:endParaRPr lang="en-US"/>
          </a:p>
        </p:txBody>
      </p:sp>
      <p:sp>
        <p:nvSpPr>
          <p:cNvPr id="7" name="Text 5"/>
          <p:cNvSpPr txBox="1"/>
          <p:nvPr/>
        </p:nvSpPr>
        <p:spPr>
          <a:xfrm>
            <a:off x="548640" y="1856232"/>
            <a:ext cx="384048" cy="384048"/>
          </a:xfrm>
          <a:prstGeom prst="rect">
            <a:avLst/>
          </a:prstGeom>
          <a:noFill/>
          <a:ln/>
        </p:spPr>
        <p:txBody>
          <a:bodyPr wrap="square" lIns="0" tIns="0" rIns="0" bIns="0" rtlCol="0" anchor="ctr"/>
          <a:lstStyle/>
          <a:p>
            <a:pPr marL="0" indent="0" algn="ctr">
              <a:buNone/>
            </a:pPr>
            <a:r>
              <a:rPr lang="en-US" sz="1300" b="1" dirty="0">
                <a:solidFill>
                  <a:schemeClr val="tx1"/>
                </a:solidFill>
              </a:rPr>
              <a:t>2</a:t>
            </a:r>
            <a:endParaRPr lang="en-US" sz="1300" dirty="0"/>
          </a:p>
        </p:txBody>
      </p:sp>
      <p:sp>
        <p:nvSpPr>
          <p:cNvPr id="8" name="Text 6"/>
          <p:cNvSpPr txBox="1"/>
          <p:nvPr/>
        </p:nvSpPr>
        <p:spPr>
          <a:xfrm>
            <a:off x="1097280" y="1810512"/>
            <a:ext cx="2743200" cy="502920"/>
          </a:xfrm>
          <a:prstGeom prst="rect">
            <a:avLst/>
          </a:prstGeom>
          <a:noFill/>
          <a:ln/>
        </p:spPr>
        <p:txBody>
          <a:bodyPr wrap="square" lIns="0" tIns="0" rIns="0" bIns="0" rtlCol="0" anchor="ctr"/>
          <a:lstStyle/>
          <a:p>
            <a:pPr marL="0" indent="0">
              <a:buNone/>
            </a:pPr>
            <a:r>
              <a:rPr lang="en-US" sz="1200" dirty="0">
                <a:solidFill>
                  <a:schemeClr val="tx1"/>
                </a:solidFill>
              </a:rPr>
              <a:t>Nginx serves the React app and routes API and live-chat calls</a:t>
            </a:r>
            <a:endParaRPr lang="en-US" sz="1200" dirty="0"/>
          </a:p>
        </p:txBody>
      </p:sp>
      <p:sp>
        <p:nvSpPr>
          <p:cNvPr id="9" name="Flow step 3"/>
          <p:cNvSpPr/>
          <p:nvPr/>
        </p:nvSpPr>
        <p:spPr>
          <a:xfrm>
            <a:off x="548640" y="2478024"/>
            <a:ext cx="384048" cy="384048"/>
          </a:xfrm>
          <a:prstGeom prst="roundRect">
            <a:avLst>
              <a:gd name="adj" fmla="val 23810"/>
            </a:avLst>
          </a:prstGeom>
          <a:solidFill>
            <a:schemeClr val="accent1"/>
          </a:solidFill>
          <a:ln/>
        </p:spPr>
        <p:txBody>
          <a:bodyPr/>
          <a:lstStyle/>
          <a:p>
            <a:endParaRPr lang="en-US"/>
          </a:p>
        </p:txBody>
      </p:sp>
      <p:sp>
        <p:nvSpPr>
          <p:cNvPr id="10" name="Text 8"/>
          <p:cNvSpPr txBox="1"/>
          <p:nvPr/>
        </p:nvSpPr>
        <p:spPr>
          <a:xfrm>
            <a:off x="548640" y="2478024"/>
            <a:ext cx="384048" cy="384048"/>
          </a:xfrm>
          <a:prstGeom prst="rect">
            <a:avLst/>
          </a:prstGeom>
          <a:noFill/>
          <a:ln/>
        </p:spPr>
        <p:txBody>
          <a:bodyPr wrap="square" lIns="0" tIns="0" rIns="0" bIns="0" rtlCol="0" anchor="ctr"/>
          <a:lstStyle/>
          <a:p>
            <a:pPr marL="0" indent="0" algn="ctr">
              <a:buNone/>
            </a:pPr>
            <a:r>
              <a:rPr lang="en-US" sz="1300" b="1" dirty="0">
                <a:solidFill>
                  <a:schemeClr val="tx1"/>
                </a:solidFill>
              </a:rPr>
              <a:t>3</a:t>
            </a:r>
            <a:endParaRPr lang="en-US" sz="1300" dirty="0"/>
          </a:p>
        </p:txBody>
      </p:sp>
      <p:sp>
        <p:nvSpPr>
          <p:cNvPr id="11" name="Text 9"/>
          <p:cNvSpPr txBox="1"/>
          <p:nvPr/>
        </p:nvSpPr>
        <p:spPr>
          <a:xfrm>
            <a:off x="1097280" y="2432304"/>
            <a:ext cx="2743200" cy="502920"/>
          </a:xfrm>
          <a:prstGeom prst="rect">
            <a:avLst/>
          </a:prstGeom>
          <a:noFill/>
          <a:ln/>
        </p:spPr>
        <p:txBody>
          <a:bodyPr wrap="square" lIns="0" tIns="0" rIns="0" bIns="0" rtlCol="0" anchor="ctr"/>
          <a:lstStyle/>
          <a:p>
            <a:pPr marL="0" indent="0">
              <a:buNone/>
            </a:pPr>
            <a:r>
              <a:rPr lang="en-US" sz="1200" dirty="0">
                <a:solidFill>
                  <a:schemeClr val="tx1"/>
                </a:solidFill>
              </a:rPr>
              <a:t>Identity validates sessions, membership, and consent</a:t>
            </a:r>
            <a:endParaRPr lang="en-US" sz="1200" dirty="0"/>
          </a:p>
        </p:txBody>
      </p:sp>
      <p:sp>
        <p:nvSpPr>
          <p:cNvPr id="12" name="Flow step 4"/>
          <p:cNvSpPr/>
          <p:nvPr/>
        </p:nvSpPr>
        <p:spPr>
          <a:xfrm>
            <a:off x="548640" y="3099816"/>
            <a:ext cx="384048" cy="384048"/>
          </a:xfrm>
          <a:prstGeom prst="roundRect">
            <a:avLst>
              <a:gd name="adj" fmla="val 23810"/>
            </a:avLst>
          </a:prstGeom>
          <a:solidFill>
            <a:schemeClr val="accent1"/>
          </a:solidFill>
          <a:ln/>
        </p:spPr>
        <p:txBody>
          <a:bodyPr/>
          <a:lstStyle/>
          <a:p>
            <a:endParaRPr lang="en-US"/>
          </a:p>
        </p:txBody>
      </p:sp>
      <p:sp>
        <p:nvSpPr>
          <p:cNvPr id="13" name="Text 11"/>
          <p:cNvSpPr txBox="1"/>
          <p:nvPr/>
        </p:nvSpPr>
        <p:spPr>
          <a:xfrm>
            <a:off x="548640" y="3099816"/>
            <a:ext cx="384048" cy="384048"/>
          </a:xfrm>
          <a:prstGeom prst="rect">
            <a:avLst/>
          </a:prstGeom>
          <a:noFill/>
          <a:ln/>
        </p:spPr>
        <p:txBody>
          <a:bodyPr wrap="square" lIns="0" tIns="0" rIns="0" bIns="0" rtlCol="0" anchor="ctr"/>
          <a:lstStyle/>
          <a:p>
            <a:pPr marL="0" indent="0" algn="ctr">
              <a:buNone/>
            </a:pPr>
            <a:r>
              <a:rPr lang="en-US" sz="1300" b="1" dirty="0">
                <a:solidFill>
                  <a:schemeClr val="tx1"/>
                </a:solidFill>
              </a:rPr>
              <a:t>4</a:t>
            </a:r>
            <a:endParaRPr lang="en-US" sz="1300" dirty="0"/>
          </a:p>
        </p:txBody>
      </p:sp>
      <p:sp>
        <p:nvSpPr>
          <p:cNvPr id="14" name="Text 12"/>
          <p:cNvSpPr txBox="1"/>
          <p:nvPr/>
        </p:nvSpPr>
        <p:spPr>
          <a:xfrm>
            <a:off x="1097280" y="3054096"/>
            <a:ext cx="2743200" cy="502920"/>
          </a:xfrm>
          <a:prstGeom prst="rect">
            <a:avLst/>
          </a:prstGeom>
          <a:noFill/>
          <a:ln/>
        </p:spPr>
        <p:txBody>
          <a:bodyPr wrap="square" lIns="0" tIns="0" rIns="0" bIns="0" rtlCol="0" anchor="ctr"/>
          <a:lstStyle/>
          <a:p>
            <a:pPr marL="0" indent="0">
              <a:buNone/>
            </a:pPr>
            <a:r>
              <a:rPr lang="en-US" sz="1200" dirty="0">
                <a:solidFill>
                  <a:schemeClr val="tx1"/>
                </a:solidFill>
              </a:rPr>
              <a:t>Content calls AI, which reaches OpenAI over HTTPS</a:t>
            </a:r>
            <a:endParaRPr lang="en-US" sz="1200" dirty="0"/>
          </a:p>
        </p:txBody>
      </p:sp>
      <p:sp>
        <p:nvSpPr>
          <p:cNvPr id="15" name="Flow step 5"/>
          <p:cNvSpPr/>
          <p:nvPr/>
        </p:nvSpPr>
        <p:spPr>
          <a:xfrm>
            <a:off x="548640" y="3721608"/>
            <a:ext cx="384048" cy="384048"/>
          </a:xfrm>
          <a:prstGeom prst="roundRect">
            <a:avLst>
              <a:gd name="adj" fmla="val 23810"/>
            </a:avLst>
          </a:prstGeom>
          <a:solidFill>
            <a:schemeClr val="accent1"/>
          </a:solidFill>
          <a:ln/>
        </p:spPr>
        <p:txBody>
          <a:bodyPr/>
          <a:lstStyle/>
          <a:p>
            <a:endParaRPr lang="en-US"/>
          </a:p>
        </p:txBody>
      </p:sp>
      <p:sp>
        <p:nvSpPr>
          <p:cNvPr id="16" name="Text 14"/>
          <p:cNvSpPr txBox="1"/>
          <p:nvPr/>
        </p:nvSpPr>
        <p:spPr>
          <a:xfrm>
            <a:off x="548640" y="3721608"/>
            <a:ext cx="384048" cy="384048"/>
          </a:xfrm>
          <a:prstGeom prst="rect">
            <a:avLst/>
          </a:prstGeom>
          <a:noFill/>
          <a:ln/>
        </p:spPr>
        <p:txBody>
          <a:bodyPr wrap="square" lIns="0" tIns="0" rIns="0" bIns="0" rtlCol="0" anchor="ctr"/>
          <a:lstStyle/>
          <a:p>
            <a:pPr marL="0" indent="0" algn="ctr">
              <a:buNone/>
            </a:pPr>
            <a:r>
              <a:rPr lang="en-US" sz="1300" b="1" dirty="0">
                <a:solidFill>
                  <a:schemeClr val="tx1"/>
                </a:solidFill>
              </a:rPr>
              <a:t>5</a:t>
            </a:r>
            <a:endParaRPr lang="en-US" sz="1300" dirty="0"/>
          </a:p>
        </p:txBody>
      </p:sp>
      <p:sp>
        <p:nvSpPr>
          <p:cNvPr id="17" name="Text 15"/>
          <p:cNvSpPr txBox="1"/>
          <p:nvPr/>
        </p:nvSpPr>
        <p:spPr>
          <a:xfrm>
            <a:off x="1097280" y="3675888"/>
            <a:ext cx="2743200" cy="502920"/>
          </a:xfrm>
          <a:prstGeom prst="rect">
            <a:avLst/>
          </a:prstGeom>
          <a:noFill/>
          <a:ln/>
        </p:spPr>
        <p:txBody>
          <a:bodyPr wrap="square" lIns="0" tIns="0" rIns="0" bIns="0" rtlCol="0" anchor="ctr"/>
          <a:lstStyle/>
          <a:p>
            <a:pPr marL="0" indent="0">
              <a:buNone/>
            </a:pPr>
            <a:r>
              <a:rPr lang="en-US" sz="1200" dirty="0">
                <a:solidFill>
                  <a:schemeClr val="tx1"/>
                </a:solidFill>
              </a:rPr>
              <a:t>File bytes move directly between browser and S3</a:t>
            </a:r>
            <a:endParaRPr lang="en-US" sz="1200" dirty="0"/>
          </a:p>
        </p:txBody>
      </p:sp>
      <p:sp>
        <p:nvSpPr>
          <p:cNvPr id="18" name="Diagram card"/>
          <p:cNvSpPr/>
          <p:nvPr/>
        </p:nvSpPr>
        <p:spPr>
          <a:xfrm>
            <a:off x="4114800" y="1097280"/>
            <a:ext cx="4480560" cy="3429000"/>
          </a:xfrm>
          <a:prstGeom prst="roundRect">
            <a:avLst>
              <a:gd name="adj" fmla="val 3733"/>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pic>
        <p:nvPicPr>
          <p:cNvPr id="19" name="Image 0" descr="DayFeel high-level architecture diagram: browser, Caddy, Nginx, Identity, Content and AI services, MySQL, MongoDB, Kafka, Amazon S3 and OpenAI API"/>
          <p:cNvPicPr>
            <a:picLocks noChangeAspect="1"/>
          </p:cNvPicPr>
          <p:nvPr/>
        </p:nvPicPr>
        <p:blipFill>
          <a:blip r:embed="rId3"/>
          <a:stretch>
            <a:fillRect/>
          </a:stretch>
        </p:blipFill>
        <p:spPr>
          <a:xfrm>
            <a:off x="4455431" y="1188720"/>
            <a:ext cx="3799298" cy="3246120"/>
          </a:xfrm>
          <a:prstGeom prst="rect">
            <a:avLst/>
          </a:prstGeom>
        </p:spPr>
      </p:pic>
      <p:sp>
        <p:nvSpPr>
          <p:cNvPr id="25" name="Slide Number Placeholder 0"/>
          <p:cNvSpPr>
            <a:spLocks noGrp="1"/>
          </p:cNvSpPr>
          <p:nvPr>
            <p:ph type="sldNum" sz="quarter" idx="4294967295"/>
          </p:nvPr>
        </p:nvSpPr>
        <p:spPr>
          <a:xfrm>
            <a:off x="548640" y="4736592"/>
            <a:ext cx="45720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548640" y="320040"/>
            <a:ext cx="7223760" cy="685800"/>
          </a:xfrm>
          <a:prstGeom prst="rect">
            <a:avLst/>
          </a:prstGeom>
          <a:noFill/>
          <a:ln/>
        </p:spPr>
        <p:txBody>
          <a:bodyPr wrap="square" lIns="0" tIns="0" rIns="0" bIns="0" rtlCol="0" anchor="ctr"/>
          <a:lstStyle/>
          <a:p>
            <a:pPr marL="0" indent="0" algn="l">
              <a:buNone/>
            </a:pPr>
            <a:r>
              <a:rPr lang="en-US" sz="3000" b="1" dirty="0">
                <a:solidFill>
                  <a:schemeClr val="tx1"/>
                </a:solidFill>
              </a:rPr>
              <a:t>Three services, each owning its part</a:t>
            </a:r>
            <a:endParaRPr lang="en-US" sz="3000" dirty="0"/>
          </a:p>
        </p:txBody>
      </p:sp>
      <p:sp>
        <p:nvSpPr>
          <p:cNvPr id="3" name="Service Identity"/>
          <p:cNvSpPr/>
          <p:nvPr/>
        </p:nvSpPr>
        <p:spPr>
          <a:xfrm>
            <a:off x="548640" y="1188720"/>
            <a:ext cx="2560320" cy="2377440"/>
          </a:xfrm>
          <a:prstGeom prst="roundRect">
            <a:avLst>
              <a:gd name="adj" fmla="val 5385"/>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4" name="Icon circle LuKeyRound"/>
          <p:cNvSpPr/>
          <p:nvPr/>
        </p:nvSpPr>
        <p:spPr>
          <a:xfrm>
            <a:off x="731520" y="1371600"/>
            <a:ext cx="548640" cy="548640"/>
          </a:xfrm>
          <a:prstGeom prst="ellipse">
            <a:avLst/>
          </a:prstGeom>
          <a:solidFill>
            <a:schemeClr val="accent1"/>
          </a:solidFill>
          <a:ln/>
        </p:spPr>
        <p:txBody>
          <a:bodyPr/>
          <a:lstStyle/>
          <a:p>
            <a:endParaRPr lang="en-US"/>
          </a:p>
        </p:txBody>
      </p:sp>
      <p:pic>
        <p:nvPicPr>
          <p:cNvPr id="5" name="Image 0" descr="KeyRound icon"/>
          <p:cNvPicPr>
            <a:picLocks noChangeAspect="1"/>
          </p:cNvPicPr>
          <p:nvPr/>
        </p:nvPicPr>
        <p:blipFill>
          <a:blip r:embed="rId3"/>
          <a:stretch>
            <a:fillRect/>
          </a:stretch>
        </p:blipFill>
        <p:spPr>
          <a:xfrm>
            <a:off x="863194" y="1503274"/>
            <a:ext cx="285293" cy="285293"/>
          </a:xfrm>
          <a:prstGeom prst="rect">
            <a:avLst/>
          </a:prstGeom>
        </p:spPr>
      </p:pic>
      <p:sp>
        <p:nvSpPr>
          <p:cNvPr id="6" name="Text 3"/>
          <p:cNvSpPr txBox="1"/>
          <p:nvPr/>
        </p:nvSpPr>
        <p:spPr>
          <a:xfrm>
            <a:off x="1417320" y="1353312"/>
            <a:ext cx="1600200" cy="320040"/>
          </a:xfrm>
          <a:prstGeom prst="rect">
            <a:avLst/>
          </a:prstGeom>
          <a:noFill/>
          <a:ln/>
        </p:spPr>
        <p:txBody>
          <a:bodyPr wrap="square" lIns="0" tIns="0" rIns="0" bIns="0" rtlCol="0" anchor="t"/>
          <a:lstStyle/>
          <a:p>
            <a:pPr marL="0" indent="0">
              <a:buNone/>
            </a:pPr>
            <a:r>
              <a:rPr lang="en-US" sz="1700" b="1" dirty="0">
                <a:solidFill>
                  <a:schemeClr val="tx1"/>
                </a:solidFill>
                <a:latin typeface="+mj-lt" pitchFamily="34" charset="0"/>
                <a:ea typeface="+mj-lt" pitchFamily="34" charset="-122"/>
                <a:cs typeface="+mj-lt" pitchFamily="34" charset="-120"/>
              </a:rPr>
              <a:t>Identity</a:t>
            </a:r>
            <a:endParaRPr lang="en-US" sz="1700" dirty="0"/>
          </a:p>
        </p:txBody>
      </p:sp>
      <p:sp>
        <p:nvSpPr>
          <p:cNvPr id="7" name="Text 4"/>
          <p:cNvSpPr txBox="1"/>
          <p:nvPr/>
        </p:nvSpPr>
        <p:spPr>
          <a:xfrm>
            <a:off x="1417320" y="1673352"/>
            <a:ext cx="1645920" cy="256032"/>
          </a:xfrm>
          <a:prstGeom prst="rect">
            <a:avLst/>
          </a:prstGeom>
          <a:noFill/>
          <a:ln/>
        </p:spPr>
        <p:txBody>
          <a:bodyPr wrap="square" lIns="0" tIns="0" rIns="0" bIns="0" rtlCol="0" anchor="t"/>
          <a:lstStyle/>
          <a:p>
            <a:pPr marL="0" indent="0">
              <a:buNone/>
            </a:pPr>
            <a:r>
              <a:rPr lang="en-US" sz="1100" dirty="0">
                <a:solidFill>
                  <a:schemeClr val="tx2"/>
                </a:solidFill>
              </a:rPr>
              <a:t>Spring Boot · MySQL</a:t>
            </a:r>
            <a:endParaRPr lang="en-US" sz="1100" dirty="0"/>
          </a:p>
        </p:txBody>
      </p:sp>
      <p:sp>
        <p:nvSpPr>
          <p:cNvPr id="8" name="Text 5"/>
          <p:cNvSpPr txBox="1"/>
          <p:nvPr/>
        </p:nvSpPr>
        <p:spPr>
          <a:xfrm>
            <a:off x="731520" y="2103120"/>
            <a:ext cx="2240280" cy="1737360"/>
          </a:xfrm>
          <a:prstGeom prst="rect">
            <a:avLst/>
          </a:prstGeom>
          <a:noFill/>
          <a:ln/>
        </p:spPr>
        <p:txBody>
          <a:bodyPr wrap="square" lIns="0" tIns="0" rIns="0" bIns="0" rtlCol="0" anchor="t"/>
          <a:lstStyle/>
          <a:p>
            <a:pPr marL="0" indent="0">
              <a:buNone/>
            </a:pPr>
            <a:r>
              <a:rPr lang="en-US" sz="1200" dirty="0">
                <a:solidFill>
                  <a:schemeClr val="tx1"/>
                </a:solidFill>
              </a:rPr>
              <a:t>Users, roles, sessions, aliases, AI consent, circles, reports, moderation, and privacy requests. </a:t>
            </a:r>
            <a:endParaRPr lang="en-US" sz="1200" dirty="0"/>
          </a:p>
        </p:txBody>
      </p:sp>
      <p:sp>
        <p:nvSpPr>
          <p:cNvPr id="9" name="Service Content"/>
          <p:cNvSpPr/>
          <p:nvPr/>
        </p:nvSpPr>
        <p:spPr>
          <a:xfrm>
            <a:off x="3291840" y="1188720"/>
            <a:ext cx="2560320" cy="2377440"/>
          </a:xfrm>
          <a:prstGeom prst="roundRect">
            <a:avLst>
              <a:gd name="adj" fmla="val 5385"/>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10" name="Icon circle LuHeart"/>
          <p:cNvSpPr/>
          <p:nvPr/>
        </p:nvSpPr>
        <p:spPr>
          <a:xfrm>
            <a:off x="3474720" y="1371600"/>
            <a:ext cx="548640" cy="548640"/>
          </a:xfrm>
          <a:prstGeom prst="ellipse">
            <a:avLst/>
          </a:prstGeom>
          <a:solidFill>
            <a:schemeClr val="bg2"/>
          </a:solidFill>
          <a:ln/>
        </p:spPr>
        <p:txBody>
          <a:bodyPr/>
          <a:lstStyle/>
          <a:p>
            <a:endParaRPr lang="en-US"/>
          </a:p>
        </p:txBody>
      </p:sp>
      <p:pic>
        <p:nvPicPr>
          <p:cNvPr id="11" name="Image 1" descr="Heart icon"/>
          <p:cNvPicPr>
            <a:picLocks noChangeAspect="1"/>
          </p:cNvPicPr>
          <p:nvPr/>
        </p:nvPicPr>
        <p:blipFill>
          <a:blip r:embed="rId4"/>
          <a:stretch>
            <a:fillRect/>
          </a:stretch>
        </p:blipFill>
        <p:spPr>
          <a:xfrm>
            <a:off x="3606394" y="1503274"/>
            <a:ext cx="285293" cy="285293"/>
          </a:xfrm>
          <a:prstGeom prst="rect">
            <a:avLst/>
          </a:prstGeom>
        </p:spPr>
      </p:pic>
      <p:sp>
        <p:nvSpPr>
          <p:cNvPr id="12" name="Text 8"/>
          <p:cNvSpPr txBox="1"/>
          <p:nvPr/>
        </p:nvSpPr>
        <p:spPr>
          <a:xfrm>
            <a:off x="4160520" y="1353312"/>
            <a:ext cx="1600200" cy="320040"/>
          </a:xfrm>
          <a:prstGeom prst="rect">
            <a:avLst/>
          </a:prstGeom>
          <a:noFill/>
          <a:ln/>
        </p:spPr>
        <p:txBody>
          <a:bodyPr wrap="square" lIns="0" tIns="0" rIns="0" bIns="0" rtlCol="0" anchor="t"/>
          <a:lstStyle/>
          <a:p>
            <a:pPr marL="0" indent="0">
              <a:buNone/>
            </a:pPr>
            <a:r>
              <a:rPr lang="en-US" sz="1700" b="1" dirty="0">
                <a:solidFill>
                  <a:schemeClr val="tx1"/>
                </a:solidFill>
                <a:latin typeface="+mj-lt" pitchFamily="34" charset="0"/>
                <a:ea typeface="+mj-lt" pitchFamily="34" charset="-122"/>
                <a:cs typeface="+mj-lt" pitchFamily="34" charset="-120"/>
              </a:rPr>
              <a:t>Content</a:t>
            </a:r>
            <a:endParaRPr lang="en-US" sz="1700" dirty="0"/>
          </a:p>
        </p:txBody>
      </p:sp>
      <p:sp>
        <p:nvSpPr>
          <p:cNvPr id="13" name="Text 9"/>
          <p:cNvSpPr txBox="1"/>
          <p:nvPr/>
        </p:nvSpPr>
        <p:spPr>
          <a:xfrm>
            <a:off x="4160520" y="1673352"/>
            <a:ext cx="1645920" cy="256032"/>
          </a:xfrm>
          <a:prstGeom prst="rect">
            <a:avLst/>
          </a:prstGeom>
          <a:noFill/>
          <a:ln/>
        </p:spPr>
        <p:txBody>
          <a:bodyPr wrap="square" lIns="0" tIns="0" rIns="0" bIns="0" rtlCol="0" anchor="t"/>
          <a:lstStyle/>
          <a:p>
            <a:pPr marL="0" indent="0">
              <a:buNone/>
            </a:pPr>
            <a:r>
              <a:rPr lang="en-US" sz="1100" dirty="0">
                <a:solidFill>
                  <a:schemeClr val="tx2"/>
                </a:solidFill>
              </a:rPr>
              <a:t>Node.js · MongoDB</a:t>
            </a:r>
            <a:endParaRPr lang="en-US" sz="1100" dirty="0"/>
          </a:p>
        </p:txBody>
      </p:sp>
      <p:sp>
        <p:nvSpPr>
          <p:cNvPr id="14" name="Text 10"/>
          <p:cNvSpPr txBox="1"/>
          <p:nvPr/>
        </p:nvSpPr>
        <p:spPr>
          <a:xfrm>
            <a:off x="3474720" y="2103120"/>
            <a:ext cx="2240280" cy="1737360"/>
          </a:xfrm>
          <a:prstGeom prst="rect">
            <a:avLst/>
          </a:prstGeom>
          <a:noFill/>
          <a:ln/>
        </p:spPr>
        <p:txBody>
          <a:bodyPr wrap="square" lIns="0" tIns="0" rIns="0" bIns="0" rtlCol="0" anchor="t"/>
          <a:lstStyle/>
          <a:p>
            <a:pPr marL="0" indent="0">
              <a:buNone/>
            </a:pPr>
            <a:r>
              <a:rPr lang="en-US" sz="1200" dirty="0">
                <a:solidFill>
                  <a:schemeClr val="tx1"/>
                </a:solidFill>
              </a:rPr>
              <a:t>Journals, moods, companion history, posts, reactions, chat, and weekly insights. Checks ownership and asks Identity before protected actions.</a:t>
            </a:r>
            <a:endParaRPr lang="en-US" sz="1200" dirty="0"/>
          </a:p>
        </p:txBody>
      </p:sp>
      <p:sp>
        <p:nvSpPr>
          <p:cNvPr id="15" name="Service AI"/>
          <p:cNvSpPr/>
          <p:nvPr/>
        </p:nvSpPr>
        <p:spPr>
          <a:xfrm>
            <a:off x="6035040" y="1188720"/>
            <a:ext cx="2560320" cy="2377440"/>
          </a:xfrm>
          <a:prstGeom prst="roundRect">
            <a:avLst>
              <a:gd name="adj" fmla="val 5385"/>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16" name="Icon circle LuBot"/>
          <p:cNvSpPr/>
          <p:nvPr/>
        </p:nvSpPr>
        <p:spPr>
          <a:xfrm>
            <a:off x="6217920" y="1371600"/>
            <a:ext cx="548640" cy="548640"/>
          </a:xfrm>
          <a:prstGeom prst="ellipse">
            <a:avLst/>
          </a:prstGeom>
          <a:solidFill>
            <a:schemeClr val="accent2"/>
          </a:solidFill>
          <a:ln/>
        </p:spPr>
        <p:txBody>
          <a:bodyPr/>
          <a:lstStyle/>
          <a:p>
            <a:endParaRPr lang="en-US"/>
          </a:p>
        </p:txBody>
      </p:sp>
      <p:pic>
        <p:nvPicPr>
          <p:cNvPr id="17" name="Image 2" descr="Bot icon"/>
          <p:cNvPicPr>
            <a:picLocks noChangeAspect="1"/>
          </p:cNvPicPr>
          <p:nvPr/>
        </p:nvPicPr>
        <p:blipFill>
          <a:blip r:embed="rId5"/>
          <a:stretch>
            <a:fillRect/>
          </a:stretch>
        </p:blipFill>
        <p:spPr>
          <a:xfrm>
            <a:off x="6349594" y="1503274"/>
            <a:ext cx="285293" cy="285293"/>
          </a:xfrm>
          <a:prstGeom prst="rect">
            <a:avLst/>
          </a:prstGeom>
        </p:spPr>
      </p:pic>
      <p:sp>
        <p:nvSpPr>
          <p:cNvPr id="18" name="Text 13"/>
          <p:cNvSpPr txBox="1"/>
          <p:nvPr/>
        </p:nvSpPr>
        <p:spPr>
          <a:xfrm>
            <a:off x="6903720" y="1353312"/>
            <a:ext cx="1600200" cy="320040"/>
          </a:xfrm>
          <a:prstGeom prst="rect">
            <a:avLst/>
          </a:prstGeom>
          <a:noFill/>
          <a:ln/>
        </p:spPr>
        <p:txBody>
          <a:bodyPr wrap="square" lIns="0" tIns="0" rIns="0" bIns="0" rtlCol="0" anchor="t"/>
          <a:lstStyle/>
          <a:p>
            <a:pPr marL="0" indent="0">
              <a:buNone/>
            </a:pPr>
            <a:r>
              <a:rPr lang="en-US" sz="1700" b="1" dirty="0">
                <a:solidFill>
                  <a:schemeClr val="tx1"/>
                </a:solidFill>
                <a:latin typeface="+mj-lt" pitchFamily="34" charset="0"/>
                <a:ea typeface="+mj-lt" pitchFamily="34" charset="-122"/>
                <a:cs typeface="+mj-lt" pitchFamily="34" charset="-120"/>
              </a:rPr>
              <a:t>AI</a:t>
            </a:r>
            <a:endParaRPr lang="en-US" sz="1700" dirty="0"/>
          </a:p>
        </p:txBody>
      </p:sp>
      <p:sp>
        <p:nvSpPr>
          <p:cNvPr id="19" name="Text 14"/>
          <p:cNvSpPr txBox="1"/>
          <p:nvPr/>
        </p:nvSpPr>
        <p:spPr>
          <a:xfrm>
            <a:off x="6903720" y="1673352"/>
            <a:ext cx="1645920" cy="256032"/>
          </a:xfrm>
          <a:prstGeom prst="rect">
            <a:avLst/>
          </a:prstGeom>
          <a:noFill/>
          <a:ln/>
        </p:spPr>
        <p:txBody>
          <a:bodyPr wrap="square" lIns="0" tIns="0" rIns="0" bIns="0" rtlCol="0" anchor="t"/>
          <a:lstStyle/>
          <a:p>
            <a:pPr marL="0" indent="0">
              <a:buNone/>
            </a:pPr>
            <a:r>
              <a:rPr lang="en-US" sz="1100" dirty="0">
                <a:solidFill>
                  <a:schemeClr val="tx2"/>
                </a:solidFill>
              </a:rPr>
              <a:t>FastAPI · OpenAI</a:t>
            </a:r>
            <a:endParaRPr lang="en-US" sz="1100" dirty="0"/>
          </a:p>
        </p:txBody>
      </p:sp>
      <p:sp>
        <p:nvSpPr>
          <p:cNvPr id="20" name="Text 15"/>
          <p:cNvSpPr txBox="1"/>
          <p:nvPr/>
        </p:nvSpPr>
        <p:spPr>
          <a:xfrm>
            <a:off x="6217920" y="2103120"/>
            <a:ext cx="2240280" cy="1737360"/>
          </a:xfrm>
          <a:prstGeom prst="rect">
            <a:avLst/>
          </a:prstGeom>
          <a:noFill/>
          <a:ln/>
        </p:spPr>
        <p:txBody>
          <a:bodyPr wrap="square" lIns="0" tIns="0" rIns="0" bIns="0" rtlCol="0" anchor="t"/>
          <a:lstStyle/>
          <a:p>
            <a:pPr marL="0" indent="0">
              <a:buNone/>
            </a:pPr>
            <a:r>
              <a:rPr lang="en-US" sz="1200" dirty="0">
                <a:solidFill>
                  <a:schemeClr val="tx1"/>
                </a:solidFill>
              </a:rPr>
              <a:t>Internal endpoints that generate companion replies. A stateless adapter to OpenAI.</a:t>
            </a:r>
            <a:endParaRPr lang="en-US" sz="1200" dirty="0"/>
          </a:p>
        </p:txBody>
      </p:sp>
      <p:sp>
        <p:nvSpPr>
          <p:cNvPr id="25" name="Slide Number Placeholder 0"/>
          <p:cNvSpPr>
            <a:spLocks noGrp="1"/>
          </p:cNvSpPr>
          <p:nvPr>
            <p:ph type="sldNum" sz="quarter" idx="4294967295"/>
          </p:nvPr>
        </p:nvSpPr>
        <p:spPr>
          <a:xfrm>
            <a:off x="548640" y="4736592"/>
            <a:ext cx="45720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l"/>
            <a:fld id="{F7021451-1387-4CA6-816F-3879F97B5CBC}" type="slidenum">
              <a:rPr lang="en-US" b="0"/>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548640" y="320040"/>
            <a:ext cx="7223760" cy="685800"/>
          </a:xfrm>
          <a:prstGeom prst="rect">
            <a:avLst/>
          </a:prstGeom>
          <a:noFill/>
          <a:ln/>
        </p:spPr>
        <p:txBody>
          <a:bodyPr wrap="square" lIns="0" tIns="0" rIns="0" bIns="0" rtlCol="0" anchor="ctr"/>
          <a:lstStyle/>
          <a:p>
            <a:pPr marL="0" indent="0" algn="l">
              <a:buNone/>
            </a:pPr>
            <a:r>
              <a:rPr lang="en-US" sz="3000" b="1" dirty="0">
                <a:solidFill>
                  <a:schemeClr val="tx1"/>
                </a:solidFill>
              </a:rPr>
              <a:t>Deployed on a single AWS EC2 instance</a:t>
            </a:r>
            <a:endParaRPr lang="en-US" sz="3000" dirty="0"/>
          </a:p>
        </p:txBody>
      </p:sp>
      <p:sp>
        <p:nvSpPr>
          <p:cNvPr id="3" name="Docker Compose container"/>
          <p:cNvSpPr/>
          <p:nvPr/>
        </p:nvSpPr>
        <p:spPr>
          <a:xfrm>
            <a:off x="548640" y="1188720"/>
            <a:ext cx="6035040" cy="3108960"/>
          </a:xfrm>
          <a:prstGeom prst="roundRect">
            <a:avLst>
              <a:gd name="adj" fmla="val 5294"/>
            </a:avLst>
          </a:prstGeom>
          <a:solidFill>
            <a:schemeClr val="bg2"/>
          </a:solidFill>
          <a:ln w="15875">
            <a:solidFill>
              <a:srgbClr val="E5A94E"/>
            </a:solidFill>
            <a:prstDash val="dash"/>
          </a:ln>
        </p:spPr>
        <p:txBody>
          <a:bodyPr/>
          <a:lstStyle/>
          <a:p>
            <a:endParaRPr lang="en-US"/>
          </a:p>
        </p:txBody>
      </p:sp>
      <p:sp>
        <p:nvSpPr>
          <p:cNvPr id="4" name="Text 2"/>
          <p:cNvSpPr txBox="1"/>
          <p:nvPr/>
        </p:nvSpPr>
        <p:spPr>
          <a:xfrm>
            <a:off x="777240" y="1298448"/>
            <a:ext cx="3657600" cy="274320"/>
          </a:xfrm>
          <a:prstGeom prst="rect">
            <a:avLst/>
          </a:prstGeom>
          <a:noFill/>
          <a:ln/>
        </p:spPr>
        <p:txBody>
          <a:bodyPr wrap="square" lIns="0" tIns="0" rIns="0" bIns="0" rtlCol="0" anchor="t"/>
          <a:lstStyle/>
          <a:p>
            <a:pPr marL="0" indent="0">
              <a:buNone/>
            </a:pPr>
            <a:r>
              <a:rPr lang="en-US" sz="1200" b="1" dirty="0">
                <a:solidFill>
                  <a:schemeClr val="tx2"/>
                </a:solidFill>
              </a:rPr>
              <a:t>Docker Compose on EC2</a:t>
            </a:r>
            <a:endParaRPr lang="en-US" sz="1200" dirty="0"/>
          </a:p>
        </p:txBody>
      </p:sp>
      <p:sp>
        <p:nvSpPr>
          <p:cNvPr id="5" name="Tier Web access"/>
          <p:cNvSpPr/>
          <p:nvPr/>
        </p:nvSpPr>
        <p:spPr>
          <a:xfrm>
            <a:off x="777240" y="1737360"/>
            <a:ext cx="1691640" cy="2331720"/>
          </a:xfrm>
          <a:prstGeom prst="roundRect">
            <a:avLst>
              <a:gd name="adj" fmla="val 7568"/>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6" name="Icon circle LuGlobe"/>
          <p:cNvSpPr/>
          <p:nvPr/>
        </p:nvSpPr>
        <p:spPr>
          <a:xfrm>
            <a:off x="914400" y="1874520"/>
            <a:ext cx="502920" cy="502920"/>
          </a:xfrm>
          <a:prstGeom prst="ellipse">
            <a:avLst/>
          </a:prstGeom>
          <a:solidFill>
            <a:schemeClr val="accent1"/>
          </a:solidFill>
          <a:ln/>
        </p:spPr>
        <p:txBody>
          <a:bodyPr/>
          <a:lstStyle/>
          <a:p>
            <a:endParaRPr lang="en-US"/>
          </a:p>
        </p:txBody>
      </p:sp>
      <p:pic>
        <p:nvPicPr>
          <p:cNvPr id="7" name="Image 0" descr="Globe icon"/>
          <p:cNvPicPr>
            <a:picLocks noChangeAspect="1"/>
          </p:cNvPicPr>
          <p:nvPr/>
        </p:nvPicPr>
        <p:blipFill>
          <a:blip r:embed="rId3"/>
          <a:stretch>
            <a:fillRect/>
          </a:stretch>
        </p:blipFill>
        <p:spPr>
          <a:xfrm>
            <a:off x="1035101" y="1995221"/>
            <a:ext cx="261518" cy="261518"/>
          </a:xfrm>
          <a:prstGeom prst="rect">
            <a:avLst/>
          </a:prstGeom>
        </p:spPr>
      </p:pic>
      <p:sp>
        <p:nvSpPr>
          <p:cNvPr id="8" name="Text 5"/>
          <p:cNvSpPr txBox="1"/>
          <p:nvPr/>
        </p:nvSpPr>
        <p:spPr>
          <a:xfrm>
            <a:off x="914400" y="2487168"/>
            <a:ext cx="1463040" cy="292608"/>
          </a:xfrm>
          <a:prstGeom prst="rect">
            <a:avLst/>
          </a:prstGeom>
          <a:noFill/>
          <a:ln/>
        </p:spPr>
        <p:txBody>
          <a:bodyPr wrap="square" lIns="0" tIns="0" rIns="0" bIns="0" rtlCol="0" anchor="t"/>
          <a:lstStyle/>
          <a:p>
            <a:pPr marL="0" indent="0">
              <a:buNone/>
            </a:pPr>
            <a:r>
              <a:rPr lang="en-US" sz="1400" b="1" dirty="0">
                <a:solidFill>
                  <a:schemeClr val="tx1"/>
                </a:solidFill>
                <a:latin typeface="+mj-lt" pitchFamily="34" charset="0"/>
                <a:ea typeface="+mj-lt" pitchFamily="34" charset="-122"/>
                <a:cs typeface="+mj-lt" pitchFamily="34" charset="-120"/>
              </a:rPr>
              <a:t>Web access</a:t>
            </a:r>
            <a:endParaRPr lang="en-US" sz="1400" dirty="0"/>
          </a:p>
        </p:txBody>
      </p:sp>
      <p:sp>
        <p:nvSpPr>
          <p:cNvPr id="9" name="Text 6"/>
          <p:cNvSpPr txBox="1"/>
          <p:nvPr/>
        </p:nvSpPr>
        <p:spPr>
          <a:xfrm>
            <a:off x="914400" y="2788920"/>
            <a:ext cx="1463040" cy="548640"/>
          </a:xfrm>
          <a:prstGeom prst="rect">
            <a:avLst/>
          </a:prstGeom>
          <a:noFill/>
          <a:ln/>
        </p:spPr>
        <p:txBody>
          <a:bodyPr wrap="square" lIns="0" tIns="0" rIns="0" bIns="0" rtlCol="0" anchor="t"/>
          <a:lstStyle/>
          <a:p>
            <a:pPr marL="0" indent="0">
              <a:buNone/>
            </a:pPr>
            <a:r>
              <a:rPr lang="en-US" sz="1100" b="1" dirty="0">
                <a:solidFill>
                  <a:schemeClr val="tx2"/>
                </a:solidFill>
              </a:rPr>
              <a:t>Caddy + Nginx</a:t>
            </a:r>
            <a:endParaRPr lang="en-US" sz="1100" dirty="0"/>
          </a:p>
        </p:txBody>
      </p:sp>
      <p:sp>
        <p:nvSpPr>
          <p:cNvPr id="10" name="Text 7"/>
          <p:cNvSpPr txBox="1"/>
          <p:nvPr/>
        </p:nvSpPr>
        <p:spPr>
          <a:xfrm>
            <a:off x="914400" y="3337560"/>
            <a:ext cx="1463040" cy="640080"/>
          </a:xfrm>
          <a:prstGeom prst="rect">
            <a:avLst/>
          </a:prstGeom>
          <a:noFill/>
          <a:ln/>
        </p:spPr>
        <p:txBody>
          <a:bodyPr wrap="square" lIns="0" tIns="0" rIns="0" bIns="0" rtlCol="0" anchor="t"/>
          <a:lstStyle/>
          <a:p>
            <a:pPr marL="0" indent="0">
              <a:buNone/>
            </a:pPr>
            <a:r>
              <a:rPr lang="en-US" sz="1100" dirty="0">
                <a:solidFill>
                  <a:schemeClr val="tx2"/>
                </a:solidFill>
              </a:rPr>
              <a:t>Reverse proxy and React hosting</a:t>
            </a:r>
            <a:endParaRPr lang="en-US" sz="1100" dirty="0"/>
          </a:p>
        </p:txBody>
      </p:sp>
      <p:pic>
        <p:nvPicPr>
          <p:cNvPr id="11" name="Image 1" descr="arrow"/>
          <p:cNvPicPr>
            <a:picLocks noChangeAspect="1"/>
          </p:cNvPicPr>
          <p:nvPr/>
        </p:nvPicPr>
        <p:blipFill>
          <a:blip r:embed="rId4"/>
          <a:stretch>
            <a:fillRect/>
          </a:stretch>
        </p:blipFill>
        <p:spPr>
          <a:xfrm>
            <a:off x="2487168" y="2788920"/>
            <a:ext cx="192024" cy="192024"/>
          </a:xfrm>
          <a:prstGeom prst="rect">
            <a:avLst/>
          </a:prstGeom>
        </p:spPr>
      </p:pic>
      <p:sp>
        <p:nvSpPr>
          <p:cNvPr id="12" name="Tier Services"/>
          <p:cNvSpPr/>
          <p:nvPr/>
        </p:nvSpPr>
        <p:spPr>
          <a:xfrm>
            <a:off x="2697480" y="1737360"/>
            <a:ext cx="1691640" cy="2331720"/>
          </a:xfrm>
          <a:prstGeom prst="roundRect">
            <a:avLst>
              <a:gd name="adj" fmla="val 7568"/>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13" name="Icon circle LuServer"/>
          <p:cNvSpPr/>
          <p:nvPr/>
        </p:nvSpPr>
        <p:spPr>
          <a:xfrm>
            <a:off x="2834640" y="1874520"/>
            <a:ext cx="502920" cy="502920"/>
          </a:xfrm>
          <a:prstGeom prst="ellipse">
            <a:avLst/>
          </a:prstGeom>
          <a:solidFill>
            <a:schemeClr val="accent1"/>
          </a:solidFill>
          <a:ln/>
        </p:spPr>
        <p:txBody>
          <a:bodyPr/>
          <a:lstStyle/>
          <a:p>
            <a:endParaRPr lang="en-US"/>
          </a:p>
        </p:txBody>
      </p:sp>
      <p:pic>
        <p:nvPicPr>
          <p:cNvPr id="14" name="Image 2" descr="Server icon"/>
          <p:cNvPicPr>
            <a:picLocks noChangeAspect="1"/>
          </p:cNvPicPr>
          <p:nvPr/>
        </p:nvPicPr>
        <p:blipFill>
          <a:blip r:embed="rId5"/>
          <a:stretch>
            <a:fillRect/>
          </a:stretch>
        </p:blipFill>
        <p:spPr>
          <a:xfrm>
            <a:off x="2955341" y="1995221"/>
            <a:ext cx="261518" cy="261518"/>
          </a:xfrm>
          <a:prstGeom prst="rect">
            <a:avLst/>
          </a:prstGeom>
        </p:spPr>
      </p:pic>
      <p:sp>
        <p:nvSpPr>
          <p:cNvPr id="15" name="Text 10"/>
          <p:cNvSpPr txBox="1"/>
          <p:nvPr/>
        </p:nvSpPr>
        <p:spPr>
          <a:xfrm>
            <a:off x="2834640" y="2487168"/>
            <a:ext cx="1463040" cy="292608"/>
          </a:xfrm>
          <a:prstGeom prst="rect">
            <a:avLst/>
          </a:prstGeom>
          <a:noFill/>
          <a:ln/>
        </p:spPr>
        <p:txBody>
          <a:bodyPr wrap="square" lIns="0" tIns="0" rIns="0" bIns="0" rtlCol="0" anchor="t"/>
          <a:lstStyle/>
          <a:p>
            <a:pPr marL="0" indent="0">
              <a:buNone/>
            </a:pPr>
            <a:r>
              <a:rPr lang="en-US" sz="1400" b="1" dirty="0">
                <a:solidFill>
                  <a:schemeClr val="tx1"/>
                </a:solidFill>
                <a:latin typeface="+mj-lt" pitchFamily="34" charset="0"/>
                <a:ea typeface="+mj-lt" pitchFamily="34" charset="-122"/>
                <a:cs typeface="+mj-lt" pitchFamily="34" charset="-120"/>
              </a:rPr>
              <a:t>Services</a:t>
            </a:r>
            <a:endParaRPr lang="en-US" sz="1400" dirty="0"/>
          </a:p>
        </p:txBody>
      </p:sp>
      <p:sp>
        <p:nvSpPr>
          <p:cNvPr id="16" name="Text 11"/>
          <p:cNvSpPr txBox="1"/>
          <p:nvPr/>
        </p:nvSpPr>
        <p:spPr>
          <a:xfrm>
            <a:off x="2834640" y="2788920"/>
            <a:ext cx="1463040" cy="548640"/>
          </a:xfrm>
          <a:prstGeom prst="rect">
            <a:avLst/>
          </a:prstGeom>
          <a:noFill/>
          <a:ln/>
        </p:spPr>
        <p:txBody>
          <a:bodyPr wrap="square" lIns="0" tIns="0" rIns="0" bIns="0" rtlCol="0" anchor="t"/>
          <a:lstStyle/>
          <a:p>
            <a:pPr marL="0" indent="0">
              <a:buNone/>
            </a:pPr>
            <a:r>
              <a:rPr lang="en-US" sz="1100" b="1" dirty="0">
                <a:solidFill>
                  <a:schemeClr val="tx2"/>
                </a:solidFill>
              </a:rPr>
              <a:t>Spring Boot · Node.js · FastAPI</a:t>
            </a:r>
            <a:endParaRPr lang="en-US" sz="1100" dirty="0"/>
          </a:p>
        </p:txBody>
      </p:sp>
      <p:sp>
        <p:nvSpPr>
          <p:cNvPr id="17" name="Text 12"/>
          <p:cNvSpPr txBox="1"/>
          <p:nvPr/>
        </p:nvSpPr>
        <p:spPr>
          <a:xfrm>
            <a:off x="2834640" y="3337560"/>
            <a:ext cx="1463040" cy="640080"/>
          </a:xfrm>
          <a:prstGeom prst="rect">
            <a:avLst/>
          </a:prstGeom>
          <a:noFill/>
          <a:ln/>
        </p:spPr>
        <p:txBody>
          <a:bodyPr wrap="square" lIns="0" tIns="0" rIns="0" bIns="0" rtlCol="0" anchor="t"/>
          <a:lstStyle/>
          <a:p>
            <a:pPr marL="0" indent="0">
              <a:buNone/>
            </a:pPr>
            <a:r>
              <a:rPr lang="en-US" sz="1100" dirty="0">
                <a:solidFill>
                  <a:schemeClr val="tx2"/>
                </a:solidFill>
              </a:rPr>
              <a:t>Auth, content, live chat, AI</a:t>
            </a:r>
            <a:endParaRPr lang="en-US" sz="1100" dirty="0"/>
          </a:p>
        </p:txBody>
      </p:sp>
      <p:pic>
        <p:nvPicPr>
          <p:cNvPr id="18" name="Image 3" descr="arrow"/>
          <p:cNvPicPr>
            <a:picLocks noChangeAspect="1"/>
          </p:cNvPicPr>
          <p:nvPr/>
        </p:nvPicPr>
        <p:blipFill>
          <a:blip r:embed="rId4"/>
          <a:stretch>
            <a:fillRect/>
          </a:stretch>
        </p:blipFill>
        <p:spPr>
          <a:xfrm>
            <a:off x="4407408" y="2788920"/>
            <a:ext cx="192024" cy="192024"/>
          </a:xfrm>
          <a:prstGeom prst="rect">
            <a:avLst/>
          </a:prstGeom>
        </p:spPr>
      </p:pic>
      <p:sp>
        <p:nvSpPr>
          <p:cNvPr id="19" name="Tier Data &amp; events"/>
          <p:cNvSpPr/>
          <p:nvPr/>
        </p:nvSpPr>
        <p:spPr>
          <a:xfrm>
            <a:off x="4617720" y="1737360"/>
            <a:ext cx="1691640" cy="2331720"/>
          </a:xfrm>
          <a:prstGeom prst="roundRect">
            <a:avLst>
              <a:gd name="adj" fmla="val 7568"/>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20" name="Icon circle LuDatabase"/>
          <p:cNvSpPr/>
          <p:nvPr/>
        </p:nvSpPr>
        <p:spPr>
          <a:xfrm>
            <a:off x="4754880" y="1874520"/>
            <a:ext cx="502920" cy="502920"/>
          </a:xfrm>
          <a:prstGeom prst="ellipse">
            <a:avLst/>
          </a:prstGeom>
          <a:solidFill>
            <a:schemeClr val="accent1"/>
          </a:solidFill>
          <a:ln/>
        </p:spPr>
        <p:txBody>
          <a:bodyPr/>
          <a:lstStyle/>
          <a:p>
            <a:endParaRPr lang="en-US"/>
          </a:p>
        </p:txBody>
      </p:sp>
      <p:pic>
        <p:nvPicPr>
          <p:cNvPr id="21" name="Image 4" descr="Database icon"/>
          <p:cNvPicPr>
            <a:picLocks noChangeAspect="1"/>
          </p:cNvPicPr>
          <p:nvPr/>
        </p:nvPicPr>
        <p:blipFill>
          <a:blip r:embed="rId6"/>
          <a:stretch>
            <a:fillRect/>
          </a:stretch>
        </p:blipFill>
        <p:spPr>
          <a:xfrm>
            <a:off x="4875581" y="1995221"/>
            <a:ext cx="261518" cy="261518"/>
          </a:xfrm>
          <a:prstGeom prst="rect">
            <a:avLst/>
          </a:prstGeom>
        </p:spPr>
      </p:pic>
      <p:sp>
        <p:nvSpPr>
          <p:cNvPr id="22" name="Text 15"/>
          <p:cNvSpPr txBox="1"/>
          <p:nvPr/>
        </p:nvSpPr>
        <p:spPr>
          <a:xfrm>
            <a:off x="4754880" y="2487168"/>
            <a:ext cx="1463040" cy="292608"/>
          </a:xfrm>
          <a:prstGeom prst="rect">
            <a:avLst/>
          </a:prstGeom>
          <a:noFill/>
          <a:ln/>
        </p:spPr>
        <p:txBody>
          <a:bodyPr wrap="square" lIns="0" tIns="0" rIns="0" bIns="0" rtlCol="0" anchor="t"/>
          <a:lstStyle/>
          <a:p>
            <a:pPr marL="0" indent="0">
              <a:buNone/>
            </a:pPr>
            <a:r>
              <a:rPr lang="en-US" sz="1400" b="1" dirty="0">
                <a:solidFill>
                  <a:schemeClr val="tx1"/>
                </a:solidFill>
                <a:latin typeface="+mj-lt" pitchFamily="34" charset="0"/>
                <a:ea typeface="+mj-lt" pitchFamily="34" charset="-122"/>
                <a:cs typeface="+mj-lt" pitchFamily="34" charset="-120"/>
              </a:rPr>
              <a:t>Data &amp; events</a:t>
            </a:r>
            <a:endParaRPr lang="en-US" sz="1400" dirty="0"/>
          </a:p>
        </p:txBody>
      </p:sp>
      <p:sp>
        <p:nvSpPr>
          <p:cNvPr id="23" name="Text 16"/>
          <p:cNvSpPr txBox="1"/>
          <p:nvPr/>
        </p:nvSpPr>
        <p:spPr>
          <a:xfrm>
            <a:off x="4754880" y="2788920"/>
            <a:ext cx="1463040" cy="548640"/>
          </a:xfrm>
          <a:prstGeom prst="rect">
            <a:avLst/>
          </a:prstGeom>
          <a:noFill/>
          <a:ln/>
        </p:spPr>
        <p:txBody>
          <a:bodyPr wrap="square" lIns="0" tIns="0" rIns="0" bIns="0" rtlCol="0" anchor="t"/>
          <a:lstStyle/>
          <a:p>
            <a:pPr marL="0" indent="0">
              <a:buNone/>
            </a:pPr>
            <a:r>
              <a:rPr lang="en-US" sz="1100" b="1" dirty="0">
                <a:solidFill>
                  <a:schemeClr val="tx2"/>
                </a:solidFill>
              </a:rPr>
              <a:t>MySQL · MongoDB · Kafka</a:t>
            </a:r>
            <a:endParaRPr lang="en-US" sz="1100" dirty="0"/>
          </a:p>
        </p:txBody>
      </p:sp>
      <p:sp>
        <p:nvSpPr>
          <p:cNvPr id="24" name="Text 17"/>
          <p:cNvSpPr txBox="1"/>
          <p:nvPr/>
        </p:nvSpPr>
        <p:spPr>
          <a:xfrm>
            <a:off x="4754880" y="3337560"/>
            <a:ext cx="1463040" cy="640080"/>
          </a:xfrm>
          <a:prstGeom prst="rect">
            <a:avLst/>
          </a:prstGeom>
          <a:noFill/>
          <a:ln/>
        </p:spPr>
        <p:txBody>
          <a:bodyPr wrap="square" lIns="0" tIns="0" rIns="0" bIns="0" rtlCol="0" anchor="t"/>
          <a:lstStyle/>
          <a:p>
            <a:pPr marL="0" indent="0">
              <a:buNone/>
            </a:pPr>
            <a:r>
              <a:rPr lang="en-US" sz="1100" dirty="0">
                <a:solidFill>
                  <a:schemeClr val="tx2"/>
                </a:solidFill>
              </a:rPr>
              <a:t>Identity, content, messaging</a:t>
            </a:r>
            <a:endParaRPr lang="en-US" sz="1100" dirty="0"/>
          </a:p>
        </p:txBody>
      </p:sp>
      <p:sp>
        <p:nvSpPr>
          <p:cNvPr id="25" name="External Amazon S3"/>
          <p:cNvSpPr/>
          <p:nvPr/>
        </p:nvSpPr>
        <p:spPr>
          <a:xfrm>
            <a:off x="6858000" y="1188720"/>
            <a:ext cx="1737360" cy="1463040"/>
          </a:xfrm>
          <a:prstGeom prst="roundRect">
            <a:avLst>
              <a:gd name="adj" fmla="val 8750"/>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26" name="Icon circle LuHardDrive"/>
          <p:cNvSpPr/>
          <p:nvPr/>
        </p:nvSpPr>
        <p:spPr>
          <a:xfrm>
            <a:off x="7040880" y="1344168"/>
            <a:ext cx="457200" cy="457200"/>
          </a:xfrm>
          <a:prstGeom prst="ellipse">
            <a:avLst/>
          </a:prstGeom>
          <a:solidFill>
            <a:schemeClr val="bg2"/>
          </a:solidFill>
          <a:ln/>
        </p:spPr>
        <p:txBody>
          <a:bodyPr/>
          <a:lstStyle/>
          <a:p>
            <a:endParaRPr lang="en-US"/>
          </a:p>
        </p:txBody>
      </p:sp>
      <p:pic>
        <p:nvPicPr>
          <p:cNvPr id="27" name="Image 5" descr="HardDrive icon"/>
          <p:cNvPicPr>
            <a:picLocks noChangeAspect="1"/>
          </p:cNvPicPr>
          <p:nvPr/>
        </p:nvPicPr>
        <p:blipFill>
          <a:blip r:embed="rId7"/>
          <a:stretch>
            <a:fillRect/>
          </a:stretch>
        </p:blipFill>
        <p:spPr>
          <a:xfrm>
            <a:off x="7150608" y="1453896"/>
            <a:ext cx="237744" cy="237744"/>
          </a:xfrm>
          <a:prstGeom prst="rect">
            <a:avLst/>
          </a:prstGeom>
        </p:spPr>
      </p:pic>
      <p:sp>
        <p:nvSpPr>
          <p:cNvPr id="28" name="Text 20"/>
          <p:cNvSpPr txBox="1"/>
          <p:nvPr/>
        </p:nvSpPr>
        <p:spPr>
          <a:xfrm>
            <a:off x="7040880" y="1892808"/>
            <a:ext cx="1463040" cy="274320"/>
          </a:xfrm>
          <a:prstGeom prst="rect">
            <a:avLst/>
          </a:prstGeom>
          <a:noFill/>
          <a:ln/>
        </p:spPr>
        <p:txBody>
          <a:bodyPr wrap="square" lIns="0" tIns="0" rIns="0" bIns="0" rtlCol="0" anchor="t"/>
          <a:lstStyle/>
          <a:p>
            <a:pPr marL="0" indent="0">
              <a:buNone/>
            </a:pPr>
            <a:r>
              <a:rPr lang="en-US" sz="1400" b="1" dirty="0">
                <a:solidFill>
                  <a:schemeClr val="tx1"/>
                </a:solidFill>
                <a:latin typeface="+mj-lt" pitchFamily="34" charset="0"/>
                <a:ea typeface="+mj-lt" pitchFamily="34" charset="-122"/>
                <a:cs typeface="+mj-lt" pitchFamily="34" charset="-120"/>
              </a:rPr>
              <a:t>Amazon S3</a:t>
            </a:r>
            <a:endParaRPr lang="en-US" sz="1400" dirty="0"/>
          </a:p>
        </p:txBody>
      </p:sp>
      <p:sp>
        <p:nvSpPr>
          <p:cNvPr id="29" name="Text 21"/>
          <p:cNvSpPr txBox="1"/>
          <p:nvPr/>
        </p:nvSpPr>
        <p:spPr>
          <a:xfrm>
            <a:off x="7040880" y="2176272"/>
            <a:ext cx="1463040" cy="365760"/>
          </a:xfrm>
          <a:prstGeom prst="rect">
            <a:avLst/>
          </a:prstGeom>
          <a:noFill/>
          <a:ln/>
        </p:spPr>
        <p:txBody>
          <a:bodyPr wrap="square" lIns="0" tIns="0" rIns="0" bIns="0" rtlCol="0" anchor="t"/>
          <a:lstStyle/>
          <a:p>
            <a:pPr marL="0" indent="0">
              <a:buNone/>
            </a:pPr>
            <a:r>
              <a:rPr lang="en-US" sz="1100" dirty="0">
                <a:solidFill>
                  <a:schemeClr val="tx2"/>
                </a:solidFill>
              </a:rPr>
              <a:t>Private file storage</a:t>
            </a:r>
            <a:endParaRPr lang="en-US" sz="1100" dirty="0"/>
          </a:p>
        </p:txBody>
      </p:sp>
      <p:sp>
        <p:nvSpPr>
          <p:cNvPr id="30" name="External OpenAI API"/>
          <p:cNvSpPr/>
          <p:nvPr/>
        </p:nvSpPr>
        <p:spPr>
          <a:xfrm>
            <a:off x="6858000" y="2834640"/>
            <a:ext cx="1737360" cy="1463040"/>
          </a:xfrm>
          <a:prstGeom prst="roundRect">
            <a:avLst>
              <a:gd name="adj" fmla="val 8750"/>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31" name="Icon circle LuSparkles"/>
          <p:cNvSpPr/>
          <p:nvPr/>
        </p:nvSpPr>
        <p:spPr>
          <a:xfrm>
            <a:off x="7040880" y="2990088"/>
            <a:ext cx="457200" cy="457200"/>
          </a:xfrm>
          <a:prstGeom prst="ellipse">
            <a:avLst/>
          </a:prstGeom>
          <a:solidFill>
            <a:schemeClr val="bg2"/>
          </a:solidFill>
          <a:ln/>
        </p:spPr>
        <p:txBody>
          <a:bodyPr/>
          <a:lstStyle/>
          <a:p>
            <a:endParaRPr lang="en-US"/>
          </a:p>
        </p:txBody>
      </p:sp>
      <p:pic>
        <p:nvPicPr>
          <p:cNvPr id="32" name="Image 6" descr="Sparkles icon"/>
          <p:cNvPicPr>
            <a:picLocks noChangeAspect="1"/>
          </p:cNvPicPr>
          <p:nvPr/>
        </p:nvPicPr>
        <p:blipFill>
          <a:blip r:embed="rId8"/>
          <a:stretch>
            <a:fillRect/>
          </a:stretch>
        </p:blipFill>
        <p:spPr>
          <a:xfrm>
            <a:off x="7150608" y="3099816"/>
            <a:ext cx="237744" cy="237744"/>
          </a:xfrm>
          <a:prstGeom prst="rect">
            <a:avLst/>
          </a:prstGeom>
        </p:spPr>
      </p:pic>
      <p:sp>
        <p:nvSpPr>
          <p:cNvPr id="33" name="Text 24"/>
          <p:cNvSpPr txBox="1"/>
          <p:nvPr/>
        </p:nvSpPr>
        <p:spPr>
          <a:xfrm>
            <a:off x="7040880" y="3538728"/>
            <a:ext cx="1463040" cy="274320"/>
          </a:xfrm>
          <a:prstGeom prst="rect">
            <a:avLst/>
          </a:prstGeom>
          <a:noFill/>
          <a:ln/>
        </p:spPr>
        <p:txBody>
          <a:bodyPr wrap="square" lIns="0" tIns="0" rIns="0" bIns="0" rtlCol="0" anchor="t"/>
          <a:lstStyle/>
          <a:p>
            <a:pPr marL="0" indent="0">
              <a:buNone/>
            </a:pPr>
            <a:r>
              <a:rPr lang="en-US" sz="1400" b="1" dirty="0">
                <a:solidFill>
                  <a:schemeClr val="tx1"/>
                </a:solidFill>
                <a:latin typeface="+mj-lt" pitchFamily="34" charset="0"/>
                <a:ea typeface="+mj-lt" pitchFamily="34" charset="-122"/>
                <a:cs typeface="+mj-lt" pitchFamily="34" charset="-120"/>
              </a:rPr>
              <a:t>OpenAI API</a:t>
            </a:r>
            <a:endParaRPr lang="en-US" sz="1400" dirty="0"/>
          </a:p>
        </p:txBody>
      </p:sp>
      <p:sp>
        <p:nvSpPr>
          <p:cNvPr id="34" name="Text 25"/>
          <p:cNvSpPr txBox="1"/>
          <p:nvPr/>
        </p:nvSpPr>
        <p:spPr>
          <a:xfrm>
            <a:off x="7040880" y="3822192"/>
            <a:ext cx="1463040" cy="365760"/>
          </a:xfrm>
          <a:prstGeom prst="rect">
            <a:avLst/>
          </a:prstGeom>
          <a:noFill/>
          <a:ln/>
        </p:spPr>
        <p:txBody>
          <a:bodyPr wrap="square" lIns="0" tIns="0" rIns="0" bIns="0" rtlCol="0" anchor="t"/>
          <a:lstStyle/>
          <a:p>
            <a:pPr marL="0" indent="0">
              <a:buNone/>
            </a:pPr>
            <a:r>
              <a:rPr lang="en-US" sz="1100" dirty="0">
                <a:solidFill>
                  <a:schemeClr val="tx2"/>
                </a:solidFill>
              </a:rPr>
              <a:t>AI functionality</a:t>
            </a:r>
            <a:endParaRPr lang="en-US" sz="1100" dirty="0"/>
          </a:p>
        </p:txBody>
      </p:sp>
      <p:sp>
        <p:nvSpPr>
          <p:cNvPr id="35" name="Slide Number Placeholder 0"/>
          <p:cNvSpPr>
            <a:spLocks noGrp="1"/>
          </p:cNvSpPr>
          <p:nvPr>
            <p:ph type="sldNum" sz="quarter" idx="4294967295"/>
          </p:nvPr>
        </p:nvSpPr>
        <p:spPr>
          <a:xfrm>
            <a:off x="548640" y="4736592"/>
            <a:ext cx="45720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548640" y="320040"/>
            <a:ext cx="7223760" cy="685800"/>
          </a:xfrm>
          <a:prstGeom prst="rect">
            <a:avLst/>
          </a:prstGeom>
          <a:noFill/>
          <a:ln/>
        </p:spPr>
        <p:txBody>
          <a:bodyPr wrap="square" lIns="0" tIns="0" rIns="0" bIns="0" rtlCol="0" anchor="ctr"/>
          <a:lstStyle/>
          <a:p>
            <a:pPr marL="0" indent="0" algn="l">
              <a:buNone/>
            </a:pPr>
            <a:r>
              <a:rPr lang="en-US" sz="3000" b="1" dirty="0">
                <a:solidFill>
                  <a:schemeClr val="tx1"/>
                </a:solidFill>
              </a:rPr>
              <a:t>Where data lives</a:t>
            </a:r>
            <a:endParaRPr lang="en-US" sz="3000" dirty="0"/>
          </a:p>
        </p:txBody>
      </p:sp>
      <p:sp>
        <p:nvSpPr>
          <p:cNvPr id="3" name="Store MySQL · Identity"/>
          <p:cNvSpPr/>
          <p:nvPr/>
        </p:nvSpPr>
        <p:spPr>
          <a:xfrm>
            <a:off x="548640" y="1188720"/>
            <a:ext cx="2560320" cy="2606040"/>
          </a:xfrm>
          <a:prstGeom prst="roundRect">
            <a:avLst>
              <a:gd name="adj" fmla="val 5000"/>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4" name="Icon circle LuKeyRound"/>
          <p:cNvSpPr/>
          <p:nvPr/>
        </p:nvSpPr>
        <p:spPr>
          <a:xfrm>
            <a:off x="731520" y="1353312"/>
            <a:ext cx="457200" cy="457200"/>
          </a:xfrm>
          <a:prstGeom prst="ellipse">
            <a:avLst/>
          </a:prstGeom>
          <a:solidFill>
            <a:schemeClr val="accent1"/>
          </a:solidFill>
          <a:ln/>
        </p:spPr>
        <p:txBody>
          <a:bodyPr/>
          <a:lstStyle/>
          <a:p>
            <a:endParaRPr lang="en-US"/>
          </a:p>
        </p:txBody>
      </p:sp>
      <p:pic>
        <p:nvPicPr>
          <p:cNvPr id="5" name="Image 0" descr="KeyRound icon"/>
          <p:cNvPicPr>
            <a:picLocks noChangeAspect="1"/>
          </p:cNvPicPr>
          <p:nvPr/>
        </p:nvPicPr>
        <p:blipFill>
          <a:blip r:embed="rId3"/>
          <a:stretch>
            <a:fillRect/>
          </a:stretch>
        </p:blipFill>
        <p:spPr>
          <a:xfrm>
            <a:off x="841248" y="1463040"/>
            <a:ext cx="237744" cy="237744"/>
          </a:xfrm>
          <a:prstGeom prst="rect">
            <a:avLst/>
          </a:prstGeom>
        </p:spPr>
      </p:pic>
      <p:sp>
        <p:nvSpPr>
          <p:cNvPr id="6" name="Text 3"/>
          <p:cNvSpPr txBox="1"/>
          <p:nvPr/>
        </p:nvSpPr>
        <p:spPr>
          <a:xfrm>
            <a:off x="1298448" y="1353312"/>
            <a:ext cx="1737360" cy="457200"/>
          </a:xfrm>
          <a:prstGeom prst="rect">
            <a:avLst/>
          </a:prstGeom>
          <a:noFill/>
          <a:ln/>
        </p:spPr>
        <p:txBody>
          <a:bodyPr wrap="square" lIns="0" tIns="0" rIns="0" bIns="0" rtlCol="0" anchor="ctr"/>
          <a:lstStyle/>
          <a:p>
            <a:pPr marL="0" indent="0">
              <a:buNone/>
            </a:pPr>
            <a:r>
              <a:rPr lang="en-US" sz="1400" b="1" dirty="0">
                <a:solidFill>
                  <a:schemeClr val="tx1"/>
                </a:solidFill>
                <a:latin typeface="+mj-lt" pitchFamily="34" charset="0"/>
                <a:ea typeface="+mj-lt" pitchFamily="34" charset="-122"/>
                <a:cs typeface="+mj-lt" pitchFamily="34" charset="-120"/>
              </a:rPr>
              <a:t>MySQL · Identity</a:t>
            </a:r>
            <a:endParaRPr lang="en-US" sz="1400" dirty="0"/>
          </a:p>
        </p:txBody>
      </p:sp>
      <p:sp>
        <p:nvSpPr>
          <p:cNvPr id="7" name="Text 4"/>
          <p:cNvSpPr txBox="1"/>
          <p:nvPr/>
        </p:nvSpPr>
        <p:spPr>
          <a:xfrm>
            <a:off x="731520" y="1965960"/>
            <a:ext cx="2240280" cy="1005840"/>
          </a:xfrm>
          <a:prstGeom prst="rect">
            <a:avLst/>
          </a:prstGeom>
          <a:noFill/>
          <a:ln/>
        </p:spPr>
        <p:txBody>
          <a:bodyPr wrap="square" lIns="0" tIns="0" rIns="0" bIns="0" rtlCol="0" anchor="t"/>
          <a:lstStyle/>
          <a:p>
            <a:pPr marL="0" indent="0">
              <a:buNone/>
            </a:pPr>
            <a:r>
              <a:rPr lang="en-US" sz="1100" dirty="0">
                <a:solidFill>
                  <a:schemeClr val="tx1"/>
                </a:solidFill>
              </a:rPr>
              <a:t>Users, roles, sessions, circles, memberships, reports, moderation actions, privacy requests, outbox events</a:t>
            </a:r>
            <a:endParaRPr lang="en-US" sz="1100" dirty="0"/>
          </a:p>
        </p:txBody>
      </p:sp>
      <p:sp>
        <p:nvSpPr>
          <p:cNvPr id="10" name="Store MongoDB · Content"/>
          <p:cNvSpPr/>
          <p:nvPr/>
        </p:nvSpPr>
        <p:spPr>
          <a:xfrm>
            <a:off x="3291840" y="1188720"/>
            <a:ext cx="2560320" cy="2606040"/>
          </a:xfrm>
          <a:prstGeom prst="roundRect">
            <a:avLst>
              <a:gd name="adj" fmla="val 5000"/>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11" name="Icon circle LuBookOpen"/>
          <p:cNvSpPr/>
          <p:nvPr/>
        </p:nvSpPr>
        <p:spPr>
          <a:xfrm>
            <a:off x="3474720" y="1353312"/>
            <a:ext cx="457200" cy="457200"/>
          </a:xfrm>
          <a:prstGeom prst="ellipse">
            <a:avLst/>
          </a:prstGeom>
          <a:solidFill>
            <a:schemeClr val="accent1"/>
          </a:solidFill>
          <a:ln/>
        </p:spPr>
        <p:txBody>
          <a:bodyPr/>
          <a:lstStyle/>
          <a:p>
            <a:endParaRPr lang="en-US"/>
          </a:p>
        </p:txBody>
      </p:sp>
      <p:pic>
        <p:nvPicPr>
          <p:cNvPr id="12" name="Image 1" descr="BookOpen icon"/>
          <p:cNvPicPr>
            <a:picLocks noChangeAspect="1"/>
          </p:cNvPicPr>
          <p:nvPr/>
        </p:nvPicPr>
        <p:blipFill>
          <a:blip r:embed="rId4"/>
          <a:stretch>
            <a:fillRect/>
          </a:stretch>
        </p:blipFill>
        <p:spPr>
          <a:xfrm>
            <a:off x="3584448" y="1463040"/>
            <a:ext cx="237744" cy="237744"/>
          </a:xfrm>
          <a:prstGeom prst="rect">
            <a:avLst/>
          </a:prstGeom>
        </p:spPr>
      </p:pic>
      <p:sp>
        <p:nvSpPr>
          <p:cNvPr id="13" name="Text 9"/>
          <p:cNvSpPr txBox="1"/>
          <p:nvPr/>
        </p:nvSpPr>
        <p:spPr>
          <a:xfrm>
            <a:off x="4041648" y="1353312"/>
            <a:ext cx="1737360" cy="457200"/>
          </a:xfrm>
          <a:prstGeom prst="rect">
            <a:avLst/>
          </a:prstGeom>
          <a:noFill/>
          <a:ln/>
        </p:spPr>
        <p:txBody>
          <a:bodyPr wrap="square" lIns="0" tIns="0" rIns="0" bIns="0" rtlCol="0" anchor="ctr"/>
          <a:lstStyle/>
          <a:p>
            <a:pPr marL="0" indent="0">
              <a:buNone/>
            </a:pPr>
            <a:r>
              <a:rPr lang="en-US" sz="1400" b="1" dirty="0">
                <a:solidFill>
                  <a:schemeClr val="tx1"/>
                </a:solidFill>
                <a:latin typeface="+mj-lt" pitchFamily="34" charset="0"/>
                <a:ea typeface="+mj-lt" pitchFamily="34" charset="-122"/>
                <a:cs typeface="+mj-lt" pitchFamily="34" charset="-120"/>
              </a:rPr>
              <a:t>MongoDB · Content</a:t>
            </a:r>
            <a:endParaRPr lang="en-US" sz="1400" dirty="0"/>
          </a:p>
        </p:txBody>
      </p:sp>
      <p:sp>
        <p:nvSpPr>
          <p:cNvPr id="14" name="Text 10"/>
          <p:cNvSpPr txBox="1"/>
          <p:nvPr/>
        </p:nvSpPr>
        <p:spPr>
          <a:xfrm>
            <a:off x="3474720" y="1965960"/>
            <a:ext cx="2240280" cy="1005840"/>
          </a:xfrm>
          <a:prstGeom prst="rect">
            <a:avLst/>
          </a:prstGeom>
          <a:noFill/>
          <a:ln/>
        </p:spPr>
        <p:txBody>
          <a:bodyPr wrap="square" lIns="0" tIns="0" rIns="0" bIns="0" rtlCol="0" anchor="t"/>
          <a:lstStyle/>
          <a:p>
            <a:pPr marL="0" indent="0">
              <a:buNone/>
            </a:pPr>
            <a:r>
              <a:rPr lang="en-US" sz="1100" dirty="0">
                <a:solidFill>
                  <a:schemeClr val="tx1"/>
                </a:solidFill>
              </a:rPr>
              <a:t>Moods, journals, companion chats, posts, comments, reactions, circle chat, weekly insights, file metadata</a:t>
            </a:r>
            <a:endParaRPr lang="en-US" sz="1100" dirty="0"/>
          </a:p>
        </p:txBody>
      </p:sp>
      <p:sp>
        <p:nvSpPr>
          <p:cNvPr id="17" name="Store Amazon S3"/>
          <p:cNvSpPr/>
          <p:nvPr/>
        </p:nvSpPr>
        <p:spPr>
          <a:xfrm>
            <a:off x="6035040" y="1188720"/>
            <a:ext cx="2560320" cy="2606040"/>
          </a:xfrm>
          <a:prstGeom prst="roundRect">
            <a:avLst>
              <a:gd name="adj" fmla="val 5000"/>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18" name="Icon circle LuHardDrive"/>
          <p:cNvSpPr/>
          <p:nvPr/>
        </p:nvSpPr>
        <p:spPr>
          <a:xfrm>
            <a:off x="6217920" y="1353312"/>
            <a:ext cx="457200" cy="457200"/>
          </a:xfrm>
          <a:prstGeom prst="ellipse">
            <a:avLst/>
          </a:prstGeom>
          <a:solidFill>
            <a:schemeClr val="accent1"/>
          </a:solidFill>
          <a:ln/>
        </p:spPr>
        <p:txBody>
          <a:bodyPr/>
          <a:lstStyle/>
          <a:p>
            <a:endParaRPr lang="en-US"/>
          </a:p>
        </p:txBody>
      </p:sp>
      <p:pic>
        <p:nvPicPr>
          <p:cNvPr id="19" name="Image 2" descr="HardDrive icon"/>
          <p:cNvPicPr>
            <a:picLocks noChangeAspect="1"/>
          </p:cNvPicPr>
          <p:nvPr/>
        </p:nvPicPr>
        <p:blipFill>
          <a:blip r:embed="rId5"/>
          <a:stretch>
            <a:fillRect/>
          </a:stretch>
        </p:blipFill>
        <p:spPr>
          <a:xfrm>
            <a:off x="6327648" y="1463040"/>
            <a:ext cx="237744" cy="237744"/>
          </a:xfrm>
          <a:prstGeom prst="rect">
            <a:avLst/>
          </a:prstGeom>
        </p:spPr>
      </p:pic>
      <p:sp>
        <p:nvSpPr>
          <p:cNvPr id="20" name="Text 15"/>
          <p:cNvSpPr txBox="1"/>
          <p:nvPr/>
        </p:nvSpPr>
        <p:spPr>
          <a:xfrm>
            <a:off x="6784848" y="1353312"/>
            <a:ext cx="1737360" cy="457200"/>
          </a:xfrm>
          <a:prstGeom prst="rect">
            <a:avLst/>
          </a:prstGeom>
          <a:noFill/>
          <a:ln/>
        </p:spPr>
        <p:txBody>
          <a:bodyPr wrap="square" lIns="0" tIns="0" rIns="0" bIns="0" rtlCol="0" anchor="ctr"/>
          <a:lstStyle/>
          <a:p>
            <a:pPr marL="0" indent="0">
              <a:buNone/>
            </a:pPr>
            <a:r>
              <a:rPr lang="en-US" sz="1400" b="1" dirty="0">
                <a:solidFill>
                  <a:schemeClr val="tx1"/>
                </a:solidFill>
                <a:latin typeface="+mj-lt" pitchFamily="34" charset="0"/>
                <a:ea typeface="+mj-lt" pitchFamily="34" charset="-122"/>
                <a:cs typeface="+mj-lt" pitchFamily="34" charset="-120"/>
              </a:rPr>
              <a:t>Amazon S3</a:t>
            </a:r>
            <a:endParaRPr lang="en-US" sz="1400" dirty="0"/>
          </a:p>
        </p:txBody>
      </p:sp>
      <p:sp>
        <p:nvSpPr>
          <p:cNvPr id="21" name="Text 16"/>
          <p:cNvSpPr txBox="1"/>
          <p:nvPr/>
        </p:nvSpPr>
        <p:spPr>
          <a:xfrm>
            <a:off x="6217920" y="1965960"/>
            <a:ext cx="2240280" cy="1005840"/>
          </a:xfrm>
          <a:prstGeom prst="rect">
            <a:avLst/>
          </a:prstGeom>
          <a:noFill/>
          <a:ln/>
        </p:spPr>
        <p:txBody>
          <a:bodyPr wrap="square" lIns="0" tIns="0" rIns="0" bIns="0" rtlCol="0" anchor="t"/>
          <a:lstStyle/>
          <a:p>
            <a:pPr marL="0" indent="0">
              <a:buNone/>
            </a:pPr>
            <a:r>
              <a:rPr lang="en-US" sz="1100" dirty="0">
                <a:solidFill>
                  <a:schemeClr val="tx1"/>
                </a:solidFill>
              </a:rPr>
              <a:t>Avatar files</a:t>
            </a:r>
            <a:r>
              <a:rPr lang="en-US" sz="1100" dirty="0"/>
              <a:t> a</a:t>
            </a:r>
            <a:r>
              <a:rPr lang="en-US" sz="1100" dirty="0">
                <a:solidFill>
                  <a:schemeClr val="tx1"/>
                </a:solidFill>
              </a:rPr>
              <a:t>nd generated data exports</a:t>
            </a:r>
            <a:endParaRPr lang="en-US" sz="1100" dirty="0"/>
          </a:p>
        </p:txBody>
      </p:sp>
      <p:sp>
        <p:nvSpPr>
          <p:cNvPr id="25" name="Slide Number Placeholder 0"/>
          <p:cNvSpPr>
            <a:spLocks noGrp="1"/>
          </p:cNvSpPr>
          <p:nvPr>
            <p:ph type="sldNum" sz="quarter" idx="4294967295"/>
          </p:nvPr>
        </p:nvSpPr>
        <p:spPr>
          <a:xfrm>
            <a:off x="548640" y="4736592"/>
            <a:ext cx="45720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548640" y="320040"/>
            <a:ext cx="7223760" cy="685800"/>
          </a:xfrm>
          <a:prstGeom prst="rect">
            <a:avLst/>
          </a:prstGeom>
          <a:noFill/>
          <a:ln/>
        </p:spPr>
        <p:txBody>
          <a:bodyPr wrap="square" lIns="0" tIns="0" rIns="0" bIns="0" rtlCol="0" anchor="ctr"/>
          <a:lstStyle/>
          <a:p>
            <a:pPr marL="0" indent="0" algn="l">
              <a:buNone/>
            </a:pPr>
            <a:r>
              <a:rPr lang="en-US" sz="3000" b="1" dirty="0">
                <a:solidFill>
                  <a:schemeClr val="tx1"/>
                </a:solidFill>
              </a:rPr>
              <a:t>Principal workflows</a:t>
            </a:r>
            <a:endParaRPr lang="en-US" sz="3000" dirty="0"/>
          </a:p>
        </p:txBody>
      </p:sp>
      <p:sp>
        <p:nvSpPr>
          <p:cNvPr id="3" name="Workflow Sign-in"/>
          <p:cNvSpPr/>
          <p:nvPr/>
        </p:nvSpPr>
        <p:spPr>
          <a:xfrm>
            <a:off x="548640" y="1143000"/>
            <a:ext cx="1892808" cy="1600200"/>
          </a:xfrm>
          <a:prstGeom prst="roundRect">
            <a:avLst>
              <a:gd name="adj" fmla="val 8000"/>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4" name="Icon circle LuLogIn"/>
          <p:cNvSpPr/>
          <p:nvPr/>
        </p:nvSpPr>
        <p:spPr>
          <a:xfrm>
            <a:off x="704088" y="1298448"/>
            <a:ext cx="457200" cy="457200"/>
          </a:xfrm>
          <a:prstGeom prst="ellipse">
            <a:avLst/>
          </a:prstGeom>
          <a:solidFill>
            <a:schemeClr val="accent1"/>
          </a:solidFill>
          <a:ln/>
        </p:spPr>
        <p:txBody>
          <a:bodyPr/>
          <a:lstStyle/>
          <a:p>
            <a:endParaRPr lang="en-US"/>
          </a:p>
        </p:txBody>
      </p:sp>
      <p:pic>
        <p:nvPicPr>
          <p:cNvPr id="5" name="Image 0" descr="LogIn icon"/>
          <p:cNvPicPr>
            <a:picLocks noChangeAspect="1"/>
          </p:cNvPicPr>
          <p:nvPr/>
        </p:nvPicPr>
        <p:blipFill>
          <a:blip r:embed="rId3"/>
          <a:stretch>
            <a:fillRect/>
          </a:stretch>
        </p:blipFill>
        <p:spPr>
          <a:xfrm>
            <a:off x="813816" y="1408176"/>
            <a:ext cx="237744" cy="237744"/>
          </a:xfrm>
          <a:prstGeom prst="rect">
            <a:avLst/>
          </a:prstGeom>
        </p:spPr>
      </p:pic>
      <p:sp>
        <p:nvSpPr>
          <p:cNvPr id="6" name="Text 3"/>
          <p:cNvSpPr txBox="1"/>
          <p:nvPr/>
        </p:nvSpPr>
        <p:spPr>
          <a:xfrm>
            <a:off x="704088" y="1828800"/>
            <a:ext cx="1618488" cy="274320"/>
          </a:xfrm>
          <a:prstGeom prst="rect">
            <a:avLst/>
          </a:prstGeom>
          <a:noFill/>
          <a:ln/>
        </p:spPr>
        <p:txBody>
          <a:bodyPr wrap="square" lIns="0" tIns="0" rIns="0" bIns="0" rtlCol="0" anchor="t"/>
          <a:lstStyle/>
          <a:p>
            <a:pPr marL="0" indent="0">
              <a:buNone/>
            </a:pPr>
            <a:r>
              <a:rPr lang="en-US" sz="1400" b="1" dirty="0">
                <a:solidFill>
                  <a:schemeClr val="tx1"/>
                </a:solidFill>
                <a:latin typeface="+mj-lt" pitchFamily="34" charset="0"/>
                <a:ea typeface="+mj-lt" pitchFamily="34" charset="-122"/>
                <a:cs typeface="+mj-lt" pitchFamily="34" charset="-120"/>
              </a:rPr>
              <a:t>Sign-in</a:t>
            </a:r>
            <a:endParaRPr lang="en-US" sz="1400" dirty="0"/>
          </a:p>
        </p:txBody>
      </p:sp>
      <p:sp>
        <p:nvSpPr>
          <p:cNvPr id="7" name="Text 4"/>
          <p:cNvSpPr txBox="1"/>
          <p:nvPr/>
        </p:nvSpPr>
        <p:spPr>
          <a:xfrm>
            <a:off x="704088" y="2103120"/>
            <a:ext cx="1618488" cy="566928"/>
          </a:xfrm>
          <a:prstGeom prst="rect">
            <a:avLst/>
          </a:prstGeom>
          <a:noFill/>
          <a:ln/>
        </p:spPr>
        <p:txBody>
          <a:bodyPr wrap="square" lIns="0" tIns="0" rIns="0" bIns="0" rtlCol="0" anchor="t"/>
          <a:lstStyle/>
          <a:p>
            <a:pPr marL="0" indent="0">
              <a:buNone/>
            </a:pPr>
            <a:r>
              <a:rPr lang="en-US" sz="1100" dirty="0">
                <a:solidFill>
                  <a:schemeClr val="tx2"/>
                </a:solidFill>
              </a:rPr>
              <a:t>Identity issues tokens; every service verifies them</a:t>
            </a:r>
            <a:endParaRPr lang="en-US" sz="1100" dirty="0"/>
          </a:p>
        </p:txBody>
      </p:sp>
      <p:sp>
        <p:nvSpPr>
          <p:cNvPr id="8" name="Workflow Daily check-in"/>
          <p:cNvSpPr/>
          <p:nvPr/>
        </p:nvSpPr>
        <p:spPr>
          <a:xfrm>
            <a:off x="2596896" y="1143000"/>
            <a:ext cx="1892808" cy="1600200"/>
          </a:xfrm>
          <a:prstGeom prst="roundRect">
            <a:avLst>
              <a:gd name="adj" fmla="val 8000"/>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9" name="Icon circle LuSmile"/>
          <p:cNvSpPr/>
          <p:nvPr/>
        </p:nvSpPr>
        <p:spPr>
          <a:xfrm>
            <a:off x="2752344" y="1298448"/>
            <a:ext cx="457200" cy="457200"/>
          </a:xfrm>
          <a:prstGeom prst="ellipse">
            <a:avLst/>
          </a:prstGeom>
          <a:solidFill>
            <a:schemeClr val="accent1"/>
          </a:solidFill>
          <a:ln/>
        </p:spPr>
        <p:txBody>
          <a:bodyPr/>
          <a:lstStyle/>
          <a:p>
            <a:endParaRPr lang="en-US"/>
          </a:p>
        </p:txBody>
      </p:sp>
      <p:pic>
        <p:nvPicPr>
          <p:cNvPr id="10" name="Image 1" descr="Smile icon"/>
          <p:cNvPicPr>
            <a:picLocks noChangeAspect="1"/>
          </p:cNvPicPr>
          <p:nvPr/>
        </p:nvPicPr>
        <p:blipFill>
          <a:blip r:embed="rId4"/>
          <a:stretch>
            <a:fillRect/>
          </a:stretch>
        </p:blipFill>
        <p:spPr>
          <a:xfrm>
            <a:off x="2862072" y="1408176"/>
            <a:ext cx="237744" cy="237744"/>
          </a:xfrm>
          <a:prstGeom prst="rect">
            <a:avLst/>
          </a:prstGeom>
        </p:spPr>
      </p:pic>
      <p:sp>
        <p:nvSpPr>
          <p:cNvPr id="11" name="Text 7"/>
          <p:cNvSpPr txBox="1"/>
          <p:nvPr/>
        </p:nvSpPr>
        <p:spPr>
          <a:xfrm>
            <a:off x="2752344" y="1828800"/>
            <a:ext cx="1618488" cy="274320"/>
          </a:xfrm>
          <a:prstGeom prst="rect">
            <a:avLst/>
          </a:prstGeom>
          <a:noFill/>
          <a:ln/>
        </p:spPr>
        <p:txBody>
          <a:bodyPr wrap="square" lIns="0" tIns="0" rIns="0" bIns="0" rtlCol="0" anchor="t"/>
          <a:lstStyle/>
          <a:p>
            <a:pPr marL="0" indent="0">
              <a:buNone/>
            </a:pPr>
            <a:r>
              <a:rPr lang="en-US" sz="1400" b="1" dirty="0">
                <a:solidFill>
                  <a:schemeClr val="tx1"/>
                </a:solidFill>
                <a:latin typeface="+mj-lt" pitchFamily="34" charset="0"/>
                <a:ea typeface="+mj-lt" pitchFamily="34" charset="-122"/>
                <a:cs typeface="+mj-lt" pitchFamily="34" charset="-120"/>
              </a:rPr>
              <a:t>Daily check-in</a:t>
            </a:r>
            <a:endParaRPr lang="en-US" sz="1400" dirty="0"/>
          </a:p>
        </p:txBody>
      </p:sp>
      <p:sp>
        <p:nvSpPr>
          <p:cNvPr id="12" name="Text 8"/>
          <p:cNvSpPr txBox="1"/>
          <p:nvPr/>
        </p:nvSpPr>
        <p:spPr>
          <a:xfrm>
            <a:off x="2752344" y="2103120"/>
            <a:ext cx="1618488" cy="566928"/>
          </a:xfrm>
          <a:prstGeom prst="rect">
            <a:avLst/>
          </a:prstGeom>
          <a:noFill/>
          <a:ln/>
        </p:spPr>
        <p:txBody>
          <a:bodyPr wrap="square" lIns="0" tIns="0" rIns="0" bIns="0" rtlCol="0" anchor="t"/>
          <a:lstStyle/>
          <a:p>
            <a:pPr marL="0" indent="0">
              <a:buNone/>
            </a:pPr>
            <a:r>
              <a:rPr lang="en-US" sz="1100" dirty="0">
                <a:solidFill>
                  <a:schemeClr val="tx2"/>
                </a:solidFill>
              </a:rPr>
              <a:t>One mood per local date; updates replace it</a:t>
            </a:r>
            <a:endParaRPr lang="en-US" sz="1100" dirty="0"/>
          </a:p>
        </p:txBody>
      </p:sp>
      <p:sp>
        <p:nvSpPr>
          <p:cNvPr id="13" name="Workflow Journal"/>
          <p:cNvSpPr/>
          <p:nvPr/>
        </p:nvSpPr>
        <p:spPr>
          <a:xfrm>
            <a:off x="4645152" y="1143000"/>
            <a:ext cx="1892808" cy="1600200"/>
          </a:xfrm>
          <a:prstGeom prst="roundRect">
            <a:avLst>
              <a:gd name="adj" fmla="val 8000"/>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14" name="Icon circle LuNotebookPen"/>
          <p:cNvSpPr/>
          <p:nvPr/>
        </p:nvSpPr>
        <p:spPr>
          <a:xfrm>
            <a:off x="4800600" y="1298448"/>
            <a:ext cx="457200" cy="457200"/>
          </a:xfrm>
          <a:prstGeom prst="ellipse">
            <a:avLst/>
          </a:prstGeom>
          <a:solidFill>
            <a:schemeClr val="accent1"/>
          </a:solidFill>
          <a:ln/>
        </p:spPr>
        <p:txBody>
          <a:bodyPr/>
          <a:lstStyle/>
          <a:p>
            <a:endParaRPr lang="en-US"/>
          </a:p>
        </p:txBody>
      </p:sp>
      <p:pic>
        <p:nvPicPr>
          <p:cNvPr id="15" name="Image 2" descr="NotebookPen icon"/>
          <p:cNvPicPr>
            <a:picLocks noChangeAspect="1"/>
          </p:cNvPicPr>
          <p:nvPr/>
        </p:nvPicPr>
        <p:blipFill>
          <a:blip r:embed="rId5"/>
          <a:stretch>
            <a:fillRect/>
          </a:stretch>
        </p:blipFill>
        <p:spPr>
          <a:xfrm>
            <a:off x="4910328" y="1408176"/>
            <a:ext cx="237744" cy="237744"/>
          </a:xfrm>
          <a:prstGeom prst="rect">
            <a:avLst/>
          </a:prstGeom>
        </p:spPr>
      </p:pic>
      <p:sp>
        <p:nvSpPr>
          <p:cNvPr id="16" name="Text 11"/>
          <p:cNvSpPr txBox="1"/>
          <p:nvPr/>
        </p:nvSpPr>
        <p:spPr>
          <a:xfrm>
            <a:off x="4800600" y="1828800"/>
            <a:ext cx="1618488" cy="274320"/>
          </a:xfrm>
          <a:prstGeom prst="rect">
            <a:avLst/>
          </a:prstGeom>
          <a:noFill/>
          <a:ln/>
        </p:spPr>
        <p:txBody>
          <a:bodyPr wrap="square" lIns="0" tIns="0" rIns="0" bIns="0" rtlCol="0" anchor="t"/>
          <a:lstStyle/>
          <a:p>
            <a:pPr marL="0" indent="0">
              <a:buNone/>
            </a:pPr>
            <a:r>
              <a:rPr lang="en-US" sz="1400" b="1" dirty="0">
                <a:solidFill>
                  <a:schemeClr val="tx1"/>
                </a:solidFill>
                <a:latin typeface="+mj-lt" pitchFamily="34" charset="0"/>
                <a:ea typeface="+mj-lt" pitchFamily="34" charset="-122"/>
                <a:cs typeface="+mj-lt" pitchFamily="34" charset="-120"/>
              </a:rPr>
              <a:t>Journal</a:t>
            </a:r>
            <a:endParaRPr lang="en-US" sz="1400" dirty="0"/>
          </a:p>
        </p:txBody>
      </p:sp>
      <p:sp>
        <p:nvSpPr>
          <p:cNvPr id="17" name="Text 12"/>
          <p:cNvSpPr txBox="1"/>
          <p:nvPr/>
        </p:nvSpPr>
        <p:spPr>
          <a:xfrm>
            <a:off x="4800600" y="2103120"/>
            <a:ext cx="1618488" cy="566928"/>
          </a:xfrm>
          <a:prstGeom prst="rect">
            <a:avLst/>
          </a:prstGeom>
          <a:noFill/>
          <a:ln/>
        </p:spPr>
        <p:txBody>
          <a:bodyPr wrap="square" lIns="0" tIns="0" rIns="0" bIns="0" rtlCol="0" anchor="t"/>
          <a:lstStyle/>
          <a:p>
            <a:pPr marL="0" indent="0">
              <a:buNone/>
            </a:pPr>
            <a:r>
              <a:rPr lang="en-US" sz="1100" dirty="0">
                <a:solidFill>
                  <a:schemeClr val="tx2"/>
                </a:solidFill>
              </a:rPr>
              <a:t>Private entry stored, screened, queued for analysis</a:t>
            </a:r>
            <a:endParaRPr lang="en-US" sz="1100" dirty="0"/>
          </a:p>
        </p:txBody>
      </p:sp>
      <p:sp>
        <p:nvSpPr>
          <p:cNvPr id="18" name="Workflow Companion"/>
          <p:cNvSpPr/>
          <p:nvPr/>
        </p:nvSpPr>
        <p:spPr>
          <a:xfrm>
            <a:off x="6693408" y="1143000"/>
            <a:ext cx="1892808" cy="1600200"/>
          </a:xfrm>
          <a:prstGeom prst="roundRect">
            <a:avLst>
              <a:gd name="adj" fmla="val 8000"/>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19" name="Icon circle LuBot"/>
          <p:cNvSpPr/>
          <p:nvPr/>
        </p:nvSpPr>
        <p:spPr>
          <a:xfrm>
            <a:off x="6848856" y="1298448"/>
            <a:ext cx="457200" cy="457200"/>
          </a:xfrm>
          <a:prstGeom prst="ellipse">
            <a:avLst/>
          </a:prstGeom>
          <a:solidFill>
            <a:schemeClr val="accent1"/>
          </a:solidFill>
          <a:ln/>
        </p:spPr>
        <p:txBody>
          <a:bodyPr/>
          <a:lstStyle/>
          <a:p>
            <a:endParaRPr lang="en-US"/>
          </a:p>
        </p:txBody>
      </p:sp>
      <p:pic>
        <p:nvPicPr>
          <p:cNvPr id="20" name="Image 3" descr="Bot icon"/>
          <p:cNvPicPr>
            <a:picLocks noChangeAspect="1"/>
          </p:cNvPicPr>
          <p:nvPr/>
        </p:nvPicPr>
        <p:blipFill>
          <a:blip r:embed="rId6"/>
          <a:stretch>
            <a:fillRect/>
          </a:stretch>
        </p:blipFill>
        <p:spPr>
          <a:xfrm>
            <a:off x="6958584" y="1408176"/>
            <a:ext cx="237744" cy="237744"/>
          </a:xfrm>
          <a:prstGeom prst="rect">
            <a:avLst/>
          </a:prstGeom>
        </p:spPr>
      </p:pic>
      <p:sp>
        <p:nvSpPr>
          <p:cNvPr id="21" name="Text 15"/>
          <p:cNvSpPr txBox="1"/>
          <p:nvPr/>
        </p:nvSpPr>
        <p:spPr>
          <a:xfrm>
            <a:off x="6848856" y="1828800"/>
            <a:ext cx="1618488" cy="274320"/>
          </a:xfrm>
          <a:prstGeom prst="rect">
            <a:avLst/>
          </a:prstGeom>
          <a:noFill/>
          <a:ln/>
        </p:spPr>
        <p:txBody>
          <a:bodyPr wrap="square" lIns="0" tIns="0" rIns="0" bIns="0" rtlCol="0" anchor="t"/>
          <a:lstStyle/>
          <a:p>
            <a:pPr marL="0" indent="0">
              <a:buNone/>
            </a:pPr>
            <a:r>
              <a:rPr lang="en-US" sz="1400" b="1" dirty="0">
                <a:solidFill>
                  <a:schemeClr val="tx1"/>
                </a:solidFill>
                <a:latin typeface="+mj-lt" pitchFamily="34" charset="0"/>
                <a:ea typeface="+mj-lt" pitchFamily="34" charset="-122"/>
                <a:cs typeface="+mj-lt" pitchFamily="34" charset="-120"/>
              </a:rPr>
              <a:t>Companion</a:t>
            </a:r>
            <a:endParaRPr lang="en-US" sz="1400" dirty="0"/>
          </a:p>
        </p:txBody>
      </p:sp>
      <p:sp>
        <p:nvSpPr>
          <p:cNvPr id="22" name="Text 16"/>
          <p:cNvSpPr txBox="1"/>
          <p:nvPr/>
        </p:nvSpPr>
        <p:spPr>
          <a:xfrm>
            <a:off x="6848856" y="2103120"/>
            <a:ext cx="1618488" cy="566928"/>
          </a:xfrm>
          <a:prstGeom prst="rect">
            <a:avLst/>
          </a:prstGeom>
          <a:noFill/>
          <a:ln/>
        </p:spPr>
        <p:txBody>
          <a:bodyPr wrap="square" lIns="0" tIns="0" rIns="0" bIns="0" rtlCol="0" anchor="t"/>
          <a:lstStyle/>
          <a:p>
            <a:pPr marL="0" indent="0">
              <a:buNone/>
            </a:pPr>
            <a:r>
              <a:rPr lang="en-US" sz="1100" dirty="0">
                <a:solidFill>
                  <a:schemeClr val="tx2"/>
                </a:solidFill>
              </a:rPr>
              <a:t>Message saved, safety-checked, reply persisted</a:t>
            </a:r>
            <a:endParaRPr lang="en-US" sz="1100" dirty="0"/>
          </a:p>
        </p:txBody>
      </p:sp>
      <p:sp>
        <p:nvSpPr>
          <p:cNvPr id="23" name="Workflow Community"/>
          <p:cNvSpPr/>
          <p:nvPr/>
        </p:nvSpPr>
        <p:spPr>
          <a:xfrm>
            <a:off x="548640" y="2880360"/>
            <a:ext cx="2587752" cy="1600200"/>
          </a:xfrm>
          <a:prstGeom prst="roundRect">
            <a:avLst>
              <a:gd name="adj" fmla="val 8000"/>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24" name="Icon circle LuUsers"/>
          <p:cNvSpPr/>
          <p:nvPr/>
        </p:nvSpPr>
        <p:spPr>
          <a:xfrm>
            <a:off x="704088" y="3035808"/>
            <a:ext cx="457200" cy="457200"/>
          </a:xfrm>
          <a:prstGeom prst="ellipse">
            <a:avLst/>
          </a:prstGeom>
          <a:solidFill>
            <a:schemeClr val="accent1"/>
          </a:solidFill>
          <a:ln/>
        </p:spPr>
        <p:txBody>
          <a:bodyPr/>
          <a:lstStyle/>
          <a:p>
            <a:endParaRPr lang="en-US"/>
          </a:p>
        </p:txBody>
      </p:sp>
      <p:pic>
        <p:nvPicPr>
          <p:cNvPr id="25" name="Image 4" descr="Users icon"/>
          <p:cNvPicPr>
            <a:picLocks noChangeAspect="1"/>
          </p:cNvPicPr>
          <p:nvPr/>
        </p:nvPicPr>
        <p:blipFill>
          <a:blip r:embed="rId7"/>
          <a:stretch>
            <a:fillRect/>
          </a:stretch>
        </p:blipFill>
        <p:spPr>
          <a:xfrm>
            <a:off x="813816" y="3145536"/>
            <a:ext cx="237744" cy="237744"/>
          </a:xfrm>
          <a:prstGeom prst="rect">
            <a:avLst/>
          </a:prstGeom>
        </p:spPr>
      </p:pic>
      <p:sp>
        <p:nvSpPr>
          <p:cNvPr id="26" name="Text 19"/>
          <p:cNvSpPr txBox="1"/>
          <p:nvPr/>
        </p:nvSpPr>
        <p:spPr>
          <a:xfrm>
            <a:off x="704088" y="3566160"/>
            <a:ext cx="2313432" cy="274320"/>
          </a:xfrm>
          <a:prstGeom prst="rect">
            <a:avLst/>
          </a:prstGeom>
          <a:noFill/>
          <a:ln/>
        </p:spPr>
        <p:txBody>
          <a:bodyPr wrap="square" lIns="0" tIns="0" rIns="0" bIns="0" rtlCol="0" anchor="t"/>
          <a:lstStyle/>
          <a:p>
            <a:pPr marL="0" indent="0">
              <a:buNone/>
            </a:pPr>
            <a:r>
              <a:rPr lang="en-US" sz="1400" b="1" dirty="0">
                <a:solidFill>
                  <a:schemeClr val="tx1"/>
                </a:solidFill>
                <a:latin typeface="+mj-lt" pitchFamily="34" charset="0"/>
                <a:ea typeface="+mj-lt" pitchFamily="34" charset="-122"/>
                <a:cs typeface="+mj-lt" pitchFamily="34" charset="-120"/>
              </a:rPr>
              <a:t>Community</a:t>
            </a:r>
            <a:endParaRPr lang="en-US" sz="1400" dirty="0"/>
          </a:p>
        </p:txBody>
      </p:sp>
      <p:sp>
        <p:nvSpPr>
          <p:cNvPr id="27" name="Text 20"/>
          <p:cNvSpPr txBox="1"/>
          <p:nvPr/>
        </p:nvSpPr>
        <p:spPr>
          <a:xfrm>
            <a:off x="704088" y="3840480"/>
            <a:ext cx="2313432" cy="566928"/>
          </a:xfrm>
          <a:prstGeom prst="rect">
            <a:avLst/>
          </a:prstGeom>
          <a:noFill/>
          <a:ln/>
        </p:spPr>
        <p:txBody>
          <a:bodyPr wrap="square" lIns="0" tIns="0" rIns="0" bIns="0" rtlCol="0" anchor="t"/>
          <a:lstStyle/>
          <a:p>
            <a:pPr marL="0" indent="0">
              <a:buNone/>
            </a:pPr>
            <a:r>
              <a:rPr lang="en-US" sz="1100" dirty="0">
                <a:solidFill>
                  <a:schemeClr val="tx2"/>
                </a:solidFill>
              </a:rPr>
              <a:t>Membership checked; one reaction per user</a:t>
            </a:r>
            <a:endParaRPr lang="en-US" sz="1100" dirty="0"/>
          </a:p>
        </p:txBody>
      </p:sp>
      <p:sp>
        <p:nvSpPr>
          <p:cNvPr id="28" name="Workflow Reporting"/>
          <p:cNvSpPr/>
          <p:nvPr/>
        </p:nvSpPr>
        <p:spPr>
          <a:xfrm>
            <a:off x="3291840" y="2880360"/>
            <a:ext cx="2587752" cy="1600200"/>
          </a:xfrm>
          <a:prstGeom prst="roundRect">
            <a:avLst>
              <a:gd name="adj" fmla="val 8000"/>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29" name="Icon circle LuFlag"/>
          <p:cNvSpPr/>
          <p:nvPr/>
        </p:nvSpPr>
        <p:spPr>
          <a:xfrm>
            <a:off x="3447288" y="3035808"/>
            <a:ext cx="457200" cy="457200"/>
          </a:xfrm>
          <a:prstGeom prst="ellipse">
            <a:avLst/>
          </a:prstGeom>
          <a:solidFill>
            <a:schemeClr val="accent1"/>
          </a:solidFill>
          <a:ln/>
        </p:spPr>
        <p:txBody>
          <a:bodyPr/>
          <a:lstStyle/>
          <a:p>
            <a:endParaRPr lang="en-US"/>
          </a:p>
        </p:txBody>
      </p:sp>
      <p:pic>
        <p:nvPicPr>
          <p:cNvPr id="30" name="Image 5" descr="Flag icon"/>
          <p:cNvPicPr>
            <a:picLocks noChangeAspect="1"/>
          </p:cNvPicPr>
          <p:nvPr/>
        </p:nvPicPr>
        <p:blipFill>
          <a:blip r:embed="rId8"/>
          <a:stretch>
            <a:fillRect/>
          </a:stretch>
        </p:blipFill>
        <p:spPr>
          <a:xfrm>
            <a:off x="3557016" y="3145536"/>
            <a:ext cx="237744" cy="237744"/>
          </a:xfrm>
          <a:prstGeom prst="rect">
            <a:avLst/>
          </a:prstGeom>
        </p:spPr>
      </p:pic>
      <p:sp>
        <p:nvSpPr>
          <p:cNvPr id="31" name="Text 23"/>
          <p:cNvSpPr txBox="1"/>
          <p:nvPr/>
        </p:nvSpPr>
        <p:spPr>
          <a:xfrm>
            <a:off x="3447288" y="3566160"/>
            <a:ext cx="2313432" cy="274320"/>
          </a:xfrm>
          <a:prstGeom prst="rect">
            <a:avLst/>
          </a:prstGeom>
          <a:noFill/>
          <a:ln/>
        </p:spPr>
        <p:txBody>
          <a:bodyPr wrap="square" lIns="0" tIns="0" rIns="0" bIns="0" rtlCol="0" anchor="t"/>
          <a:lstStyle/>
          <a:p>
            <a:pPr marL="0" indent="0">
              <a:buNone/>
            </a:pPr>
            <a:r>
              <a:rPr lang="en-US" sz="1400" b="1" dirty="0">
                <a:solidFill>
                  <a:schemeClr val="tx1"/>
                </a:solidFill>
                <a:latin typeface="+mj-lt" pitchFamily="34" charset="0"/>
                <a:ea typeface="+mj-lt" pitchFamily="34" charset="-122"/>
                <a:cs typeface="+mj-lt" pitchFamily="34" charset="-120"/>
              </a:rPr>
              <a:t>Reporting</a:t>
            </a:r>
            <a:endParaRPr lang="en-US" sz="1400" dirty="0"/>
          </a:p>
        </p:txBody>
      </p:sp>
      <p:sp>
        <p:nvSpPr>
          <p:cNvPr id="32" name="Text 24"/>
          <p:cNvSpPr txBox="1"/>
          <p:nvPr/>
        </p:nvSpPr>
        <p:spPr>
          <a:xfrm>
            <a:off x="3447288" y="3840480"/>
            <a:ext cx="2313432" cy="566928"/>
          </a:xfrm>
          <a:prstGeom prst="rect">
            <a:avLst/>
          </a:prstGeom>
          <a:noFill/>
          <a:ln/>
        </p:spPr>
        <p:txBody>
          <a:bodyPr wrap="square" lIns="0" tIns="0" rIns="0" bIns="0" rtlCol="0" anchor="t"/>
          <a:lstStyle/>
          <a:p>
            <a:pPr marL="0" indent="0">
              <a:buNone/>
            </a:pPr>
            <a:r>
              <a:rPr lang="en-US" sz="1100" dirty="0">
                <a:solidFill>
                  <a:schemeClr val="tx2"/>
                </a:solidFill>
              </a:rPr>
              <a:t>Members report unsafe content; moderators act</a:t>
            </a:r>
            <a:endParaRPr lang="en-US" sz="1100" dirty="0"/>
          </a:p>
        </p:txBody>
      </p:sp>
      <p:sp>
        <p:nvSpPr>
          <p:cNvPr id="33" name="Workflow Privacy"/>
          <p:cNvSpPr/>
          <p:nvPr/>
        </p:nvSpPr>
        <p:spPr>
          <a:xfrm>
            <a:off x="6035040" y="2880360"/>
            <a:ext cx="2587752" cy="1600200"/>
          </a:xfrm>
          <a:prstGeom prst="roundRect">
            <a:avLst>
              <a:gd name="adj" fmla="val 8000"/>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34" name="Icon circle LuFolderLock"/>
          <p:cNvSpPr/>
          <p:nvPr/>
        </p:nvSpPr>
        <p:spPr>
          <a:xfrm>
            <a:off x="6190488" y="3035808"/>
            <a:ext cx="457200" cy="457200"/>
          </a:xfrm>
          <a:prstGeom prst="ellipse">
            <a:avLst/>
          </a:prstGeom>
          <a:solidFill>
            <a:schemeClr val="accent1"/>
          </a:solidFill>
          <a:ln/>
        </p:spPr>
        <p:txBody>
          <a:bodyPr/>
          <a:lstStyle/>
          <a:p>
            <a:endParaRPr lang="en-US"/>
          </a:p>
        </p:txBody>
      </p:sp>
      <p:pic>
        <p:nvPicPr>
          <p:cNvPr id="35" name="Image 6" descr="FolderLock icon"/>
          <p:cNvPicPr>
            <a:picLocks noChangeAspect="1"/>
          </p:cNvPicPr>
          <p:nvPr/>
        </p:nvPicPr>
        <p:blipFill>
          <a:blip r:embed="rId9"/>
          <a:stretch>
            <a:fillRect/>
          </a:stretch>
        </p:blipFill>
        <p:spPr>
          <a:xfrm>
            <a:off x="6300216" y="3145536"/>
            <a:ext cx="237744" cy="237744"/>
          </a:xfrm>
          <a:prstGeom prst="rect">
            <a:avLst/>
          </a:prstGeom>
        </p:spPr>
      </p:pic>
      <p:sp>
        <p:nvSpPr>
          <p:cNvPr id="36" name="Text 27"/>
          <p:cNvSpPr txBox="1"/>
          <p:nvPr/>
        </p:nvSpPr>
        <p:spPr>
          <a:xfrm>
            <a:off x="6190488" y="3566160"/>
            <a:ext cx="2313432" cy="274320"/>
          </a:xfrm>
          <a:prstGeom prst="rect">
            <a:avLst/>
          </a:prstGeom>
          <a:noFill/>
          <a:ln/>
        </p:spPr>
        <p:txBody>
          <a:bodyPr wrap="square" lIns="0" tIns="0" rIns="0" bIns="0" rtlCol="0" anchor="t"/>
          <a:lstStyle/>
          <a:p>
            <a:pPr marL="0" indent="0">
              <a:buNone/>
            </a:pPr>
            <a:r>
              <a:rPr lang="en-US" sz="1400" b="1" dirty="0">
                <a:solidFill>
                  <a:schemeClr val="tx1"/>
                </a:solidFill>
                <a:latin typeface="+mj-lt" pitchFamily="34" charset="0"/>
                <a:ea typeface="+mj-lt" pitchFamily="34" charset="-122"/>
                <a:cs typeface="+mj-lt" pitchFamily="34" charset="-120"/>
              </a:rPr>
              <a:t>Privacy</a:t>
            </a:r>
            <a:endParaRPr lang="en-US" sz="1400" dirty="0"/>
          </a:p>
        </p:txBody>
      </p:sp>
      <p:sp>
        <p:nvSpPr>
          <p:cNvPr id="37" name="Text 28"/>
          <p:cNvSpPr txBox="1"/>
          <p:nvPr/>
        </p:nvSpPr>
        <p:spPr>
          <a:xfrm>
            <a:off x="6190488" y="3840480"/>
            <a:ext cx="2313432" cy="566928"/>
          </a:xfrm>
          <a:prstGeom prst="rect">
            <a:avLst/>
          </a:prstGeom>
          <a:noFill/>
          <a:ln/>
        </p:spPr>
        <p:txBody>
          <a:bodyPr wrap="square" lIns="0" tIns="0" rIns="0" bIns="0" rtlCol="0" anchor="t"/>
          <a:lstStyle/>
          <a:p>
            <a:pPr marL="0" indent="0">
              <a:buNone/>
            </a:pPr>
            <a:r>
              <a:rPr lang="en-US" sz="1100" dirty="0">
                <a:solidFill>
                  <a:schemeClr val="tx2"/>
                </a:solidFill>
              </a:rPr>
              <a:t>Use of alias for users</a:t>
            </a:r>
            <a:endParaRPr lang="en-US" sz="1100" dirty="0"/>
          </a:p>
        </p:txBody>
      </p:sp>
      <p:sp>
        <p:nvSpPr>
          <p:cNvPr id="38" name="Slide Number Placeholder 0"/>
          <p:cNvSpPr>
            <a:spLocks noGrp="1"/>
          </p:cNvSpPr>
          <p:nvPr>
            <p:ph type="sldNum" sz="quarter" idx="4294967295"/>
          </p:nvPr>
        </p:nvSpPr>
        <p:spPr>
          <a:xfrm>
            <a:off x="548640" y="4736592"/>
            <a:ext cx="45720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548640" y="320040"/>
            <a:ext cx="7223760" cy="685800"/>
          </a:xfrm>
          <a:prstGeom prst="rect">
            <a:avLst/>
          </a:prstGeom>
          <a:noFill/>
          <a:ln/>
        </p:spPr>
        <p:txBody>
          <a:bodyPr wrap="square" lIns="0" tIns="0" rIns="0" bIns="0" rtlCol="0" anchor="ctr"/>
          <a:lstStyle/>
          <a:p>
            <a:pPr marL="0" indent="0" algn="l">
              <a:buNone/>
            </a:pPr>
            <a:r>
              <a:rPr lang="en-US" sz="3000" b="1" dirty="0">
                <a:solidFill>
                  <a:schemeClr val="tx1"/>
                </a:solidFill>
              </a:rPr>
              <a:t>What’s next for DayFeel</a:t>
            </a:r>
            <a:endParaRPr lang="en-US" sz="3000" dirty="0"/>
          </a:p>
        </p:txBody>
      </p:sp>
      <p:sp>
        <p:nvSpPr>
          <p:cNvPr id="3" name="Roadmap line"/>
          <p:cNvSpPr/>
          <p:nvPr/>
        </p:nvSpPr>
        <p:spPr>
          <a:xfrm>
            <a:off x="1280160" y="1508760"/>
            <a:ext cx="6583680" cy="0"/>
          </a:xfrm>
          <a:prstGeom prst="line">
            <a:avLst/>
          </a:prstGeom>
          <a:noFill/>
          <a:ln w="38100">
            <a:solidFill>
              <a:srgbClr val="F0CC60"/>
            </a:solidFill>
            <a:prstDash val="solid"/>
          </a:ln>
        </p:spPr>
        <p:txBody>
          <a:bodyPr/>
          <a:lstStyle/>
          <a:p>
            <a:endParaRPr lang="en-US"/>
          </a:p>
        </p:txBody>
      </p:sp>
      <p:sp>
        <p:nvSpPr>
          <p:cNvPr id="4" name="Icon circle LuTrendingUp"/>
          <p:cNvSpPr/>
          <p:nvPr/>
        </p:nvSpPr>
        <p:spPr>
          <a:xfrm>
            <a:off x="960120" y="1188720"/>
            <a:ext cx="640080" cy="640080"/>
          </a:xfrm>
          <a:prstGeom prst="ellipse">
            <a:avLst/>
          </a:prstGeom>
          <a:solidFill>
            <a:schemeClr val="accent2"/>
          </a:solidFill>
          <a:ln/>
        </p:spPr>
        <p:txBody>
          <a:bodyPr/>
          <a:lstStyle/>
          <a:p>
            <a:endParaRPr lang="en-US"/>
          </a:p>
        </p:txBody>
      </p:sp>
      <p:pic>
        <p:nvPicPr>
          <p:cNvPr id="5" name="Image 0" descr="TrendingUp icon"/>
          <p:cNvPicPr>
            <a:picLocks noChangeAspect="1"/>
          </p:cNvPicPr>
          <p:nvPr/>
        </p:nvPicPr>
        <p:blipFill>
          <a:blip r:embed="rId3"/>
          <a:stretch>
            <a:fillRect/>
          </a:stretch>
        </p:blipFill>
        <p:spPr>
          <a:xfrm>
            <a:off x="1113739" y="1342339"/>
            <a:ext cx="332842" cy="332842"/>
          </a:xfrm>
          <a:prstGeom prst="rect">
            <a:avLst/>
          </a:prstGeom>
        </p:spPr>
      </p:pic>
      <p:sp>
        <p:nvSpPr>
          <p:cNvPr id="6" name="Enhancement AI mood insights"/>
          <p:cNvSpPr/>
          <p:nvPr/>
        </p:nvSpPr>
        <p:spPr>
          <a:xfrm>
            <a:off x="548640" y="2057400"/>
            <a:ext cx="1463040" cy="1920240"/>
          </a:xfrm>
          <a:prstGeom prst="roundRect">
            <a:avLst>
              <a:gd name="adj" fmla="val 8750"/>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7" name="Text 4"/>
          <p:cNvSpPr txBox="1"/>
          <p:nvPr/>
        </p:nvSpPr>
        <p:spPr>
          <a:xfrm>
            <a:off x="685800" y="2194560"/>
            <a:ext cx="1188720" cy="548640"/>
          </a:xfrm>
          <a:prstGeom prst="rect">
            <a:avLst/>
          </a:prstGeom>
          <a:noFill/>
          <a:ln/>
        </p:spPr>
        <p:txBody>
          <a:bodyPr wrap="square" lIns="0" tIns="0" rIns="0" bIns="0" rtlCol="0" anchor="t"/>
          <a:lstStyle/>
          <a:p>
            <a:pPr marL="0" indent="0">
              <a:buNone/>
            </a:pPr>
            <a:r>
              <a:rPr lang="en-US" sz="1400" b="1" dirty="0">
                <a:solidFill>
                  <a:schemeClr val="tx1"/>
                </a:solidFill>
                <a:latin typeface="+mj-lt" pitchFamily="34" charset="0"/>
                <a:ea typeface="+mj-lt" pitchFamily="34" charset="-122"/>
                <a:cs typeface="+mj-lt" pitchFamily="34" charset="-120"/>
              </a:rPr>
              <a:t>AI mood insights</a:t>
            </a:r>
            <a:endParaRPr lang="en-US" sz="1400" dirty="0"/>
          </a:p>
        </p:txBody>
      </p:sp>
      <p:sp>
        <p:nvSpPr>
          <p:cNvPr id="8" name="Text 5"/>
          <p:cNvSpPr txBox="1"/>
          <p:nvPr/>
        </p:nvSpPr>
        <p:spPr>
          <a:xfrm>
            <a:off x="685800" y="2788920"/>
            <a:ext cx="1188720" cy="1097280"/>
          </a:xfrm>
          <a:prstGeom prst="rect">
            <a:avLst/>
          </a:prstGeom>
          <a:noFill/>
          <a:ln/>
        </p:spPr>
        <p:txBody>
          <a:bodyPr wrap="square" lIns="0" tIns="0" rIns="0" bIns="0" rtlCol="0" anchor="t"/>
          <a:lstStyle/>
          <a:p>
            <a:pPr marL="0" indent="0">
              <a:buNone/>
            </a:pPr>
            <a:r>
              <a:rPr lang="en-US" sz="1200" dirty="0">
                <a:solidFill>
                  <a:schemeClr val="tx2"/>
                </a:solidFill>
              </a:rPr>
              <a:t>Weekly or monthly trends, focus points, and helpful habits</a:t>
            </a:r>
            <a:endParaRPr lang="en-US" sz="1200" dirty="0"/>
          </a:p>
        </p:txBody>
      </p:sp>
      <p:sp>
        <p:nvSpPr>
          <p:cNvPr id="9" name="Icon circle LuBell"/>
          <p:cNvSpPr/>
          <p:nvPr/>
        </p:nvSpPr>
        <p:spPr>
          <a:xfrm>
            <a:off x="2606040" y="1188720"/>
            <a:ext cx="640080" cy="640080"/>
          </a:xfrm>
          <a:prstGeom prst="ellipse">
            <a:avLst/>
          </a:prstGeom>
          <a:solidFill>
            <a:schemeClr val="accent1"/>
          </a:solidFill>
          <a:ln/>
        </p:spPr>
        <p:txBody>
          <a:bodyPr/>
          <a:lstStyle/>
          <a:p>
            <a:endParaRPr lang="en-US"/>
          </a:p>
        </p:txBody>
      </p:sp>
      <p:pic>
        <p:nvPicPr>
          <p:cNvPr id="10" name="Image 1" descr="Bell icon"/>
          <p:cNvPicPr>
            <a:picLocks noChangeAspect="1"/>
          </p:cNvPicPr>
          <p:nvPr/>
        </p:nvPicPr>
        <p:blipFill>
          <a:blip r:embed="rId4"/>
          <a:stretch>
            <a:fillRect/>
          </a:stretch>
        </p:blipFill>
        <p:spPr>
          <a:xfrm>
            <a:off x="2759659" y="1342339"/>
            <a:ext cx="332842" cy="332842"/>
          </a:xfrm>
          <a:prstGeom prst="rect">
            <a:avLst/>
          </a:prstGeom>
        </p:spPr>
      </p:pic>
      <p:sp>
        <p:nvSpPr>
          <p:cNvPr id="11" name="Enhancement Notifications"/>
          <p:cNvSpPr/>
          <p:nvPr/>
        </p:nvSpPr>
        <p:spPr>
          <a:xfrm>
            <a:off x="2194560" y="2057400"/>
            <a:ext cx="1463040" cy="1920240"/>
          </a:xfrm>
          <a:prstGeom prst="roundRect">
            <a:avLst>
              <a:gd name="adj" fmla="val 8750"/>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12" name="Text 8"/>
          <p:cNvSpPr txBox="1"/>
          <p:nvPr/>
        </p:nvSpPr>
        <p:spPr>
          <a:xfrm>
            <a:off x="2331720" y="2194560"/>
            <a:ext cx="1188720" cy="548640"/>
          </a:xfrm>
          <a:prstGeom prst="rect">
            <a:avLst/>
          </a:prstGeom>
          <a:noFill/>
          <a:ln/>
        </p:spPr>
        <p:txBody>
          <a:bodyPr wrap="square" lIns="0" tIns="0" rIns="0" bIns="0" rtlCol="0" anchor="t"/>
          <a:lstStyle/>
          <a:p>
            <a:pPr marL="0" indent="0">
              <a:buNone/>
            </a:pPr>
            <a:r>
              <a:rPr lang="en-US" sz="1400" b="1" dirty="0">
                <a:solidFill>
                  <a:schemeClr val="tx1"/>
                </a:solidFill>
                <a:latin typeface="+mj-lt" pitchFamily="34" charset="0"/>
                <a:ea typeface="+mj-lt" pitchFamily="34" charset="-122"/>
                <a:cs typeface="+mj-lt" pitchFamily="34" charset="-120"/>
              </a:rPr>
              <a:t>Notifications</a:t>
            </a:r>
            <a:endParaRPr lang="en-US" sz="1400" dirty="0"/>
          </a:p>
        </p:txBody>
      </p:sp>
      <p:sp>
        <p:nvSpPr>
          <p:cNvPr id="13" name="Text 9"/>
          <p:cNvSpPr txBox="1"/>
          <p:nvPr/>
        </p:nvSpPr>
        <p:spPr>
          <a:xfrm>
            <a:off x="2331720" y="2788920"/>
            <a:ext cx="1188720" cy="1097280"/>
          </a:xfrm>
          <a:prstGeom prst="rect">
            <a:avLst/>
          </a:prstGeom>
          <a:noFill/>
          <a:ln/>
        </p:spPr>
        <p:txBody>
          <a:bodyPr wrap="square" lIns="0" tIns="0" rIns="0" bIns="0" rtlCol="0" anchor="t"/>
          <a:lstStyle/>
          <a:p>
            <a:pPr marL="0" indent="0">
              <a:buNone/>
            </a:pPr>
            <a:r>
              <a:rPr lang="en-US" sz="1200" dirty="0">
                <a:solidFill>
                  <a:schemeClr val="tx2"/>
                </a:solidFill>
              </a:rPr>
              <a:t>Check-in reminders, report alerts, new circle messages</a:t>
            </a:r>
            <a:endParaRPr lang="en-US" sz="1200" dirty="0"/>
          </a:p>
        </p:txBody>
      </p:sp>
      <p:sp>
        <p:nvSpPr>
          <p:cNvPr id="14" name="Icon circle LuUserCog"/>
          <p:cNvSpPr/>
          <p:nvPr/>
        </p:nvSpPr>
        <p:spPr>
          <a:xfrm>
            <a:off x="4251960" y="1188720"/>
            <a:ext cx="640080" cy="640080"/>
          </a:xfrm>
          <a:prstGeom prst="ellipse">
            <a:avLst/>
          </a:prstGeom>
          <a:solidFill>
            <a:schemeClr val="accent1"/>
          </a:solidFill>
          <a:ln/>
        </p:spPr>
        <p:txBody>
          <a:bodyPr/>
          <a:lstStyle/>
          <a:p>
            <a:endParaRPr lang="en-US"/>
          </a:p>
        </p:txBody>
      </p:sp>
      <p:pic>
        <p:nvPicPr>
          <p:cNvPr id="15" name="Image 2" descr="UserCog icon"/>
          <p:cNvPicPr>
            <a:picLocks noChangeAspect="1"/>
          </p:cNvPicPr>
          <p:nvPr/>
        </p:nvPicPr>
        <p:blipFill>
          <a:blip r:embed="rId5"/>
          <a:stretch>
            <a:fillRect/>
          </a:stretch>
        </p:blipFill>
        <p:spPr>
          <a:xfrm>
            <a:off x="4405579" y="1342339"/>
            <a:ext cx="332842" cy="332842"/>
          </a:xfrm>
          <a:prstGeom prst="rect">
            <a:avLst/>
          </a:prstGeom>
        </p:spPr>
      </p:pic>
      <p:sp>
        <p:nvSpPr>
          <p:cNvPr id="16" name="Enhancement Account support"/>
          <p:cNvSpPr/>
          <p:nvPr/>
        </p:nvSpPr>
        <p:spPr>
          <a:xfrm>
            <a:off x="3840480" y="2057400"/>
            <a:ext cx="1463040" cy="1920240"/>
          </a:xfrm>
          <a:prstGeom prst="roundRect">
            <a:avLst>
              <a:gd name="adj" fmla="val 8750"/>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17" name="Text 12"/>
          <p:cNvSpPr txBox="1"/>
          <p:nvPr/>
        </p:nvSpPr>
        <p:spPr>
          <a:xfrm>
            <a:off x="3977640" y="2194560"/>
            <a:ext cx="1188720" cy="548640"/>
          </a:xfrm>
          <a:prstGeom prst="rect">
            <a:avLst/>
          </a:prstGeom>
          <a:noFill/>
          <a:ln/>
        </p:spPr>
        <p:txBody>
          <a:bodyPr wrap="square" lIns="0" tIns="0" rIns="0" bIns="0" rtlCol="0" anchor="t"/>
          <a:lstStyle/>
          <a:p>
            <a:pPr marL="0" indent="0">
              <a:buNone/>
            </a:pPr>
            <a:r>
              <a:rPr lang="en-US" sz="1400" b="1" dirty="0">
                <a:solidFill>
                  <a:schemeClr val="tx1"/>
                </a:solidFill>
                <a:latin typeface="+mj-lt" pitchFamily="34" charset="0"/>
                <a:ea typeface="+mj-lt" pitchFamily="34" charset="-122"/>
                <a:cs typeface="+mj-lt" pitchFamily="34" charset="-120"/>
              </a:rPr>
              <a:t>Account support</a:t>
            </a:r>
            <a:endParaRPr lang="en-US" sz="1400" dirty="0"/>
          </a:p>
        </p:txBody>
      </p:sp>
      <p:sp>
        <p:nvSpPr>
          <p:cNvPr id="18" name="Text 13"/>
          <p:cNvSpPr txBox="1"/>
          <p:nvPr/>
        </p:nvSpPr>
        <p:spPr>
          <a:xfrm>
            <a:off x="3977640" y="2788920"/>
            <a:ext cx="1188720" cy="1097280"/>
          </a:xfrm>
          <a:prstGeom prst="rect">
            <a:avLst/>
          </a:prstGeom>
          <a:noFill/>
          <a:ln/>
        </p:spPr>
        <p:txBody>
          <a:bodyPr wrap="square" lIns="0" tIns="0" rIns="0" bIns="0" rtlCol="0" anchor="t"/>
          <a:lstStyle/>
          <a:p>
            <a:pPr marL="0" indent="0">
              <a:buNone/>
            </a:pPr>
            <a:r>
              <a:rPr lang="en-US" sz="1200" dirty="0">
                <a:solidFill>
                  <a:schemeClr val="tx2"/>
                </a:solidFill>
              </a:rPr>
              <a:t>Forgot password and admin user management</a:t>
            </a:r>
            <a:endParaRPr lang="en-US" sz="1200" dirty="0"/>
          </a:p>
        </p:txBody>
      </p:sp>
      <p:sp>
        <p:nvSpPr>
          <p:cNvPr id="19" name="Icon circle LuMessagesSquare"/>
          <p:cNvSpPr/>
          <p:nvPr/>
        </p:nvSpPr>
        <p:spPr>
          <a:xfrm>
            <a:off x="5897880" y="1188720"/>
            <a:ext cx="640080" cy="640080"/>
          </a:xfrm>
          <a:prstGeom prst="ellipse">
            <a:avLst/>
          </a:prstGeom>
          <a:solidFill>
            <a:schemeClr val="accent1"/>
          </a:solidFill>
          <a:ln/>
        </p:spPr>
        <p:txBody>
          <a:bodyPr/>
          <a:lstStyle/>
          <a:p>
            <a:endParaRPr lang="en-US"/>
          </a:p>
        </p:txBody>
      </p:sp>
      <p:pic>
        <p:nvPicPr>
          <p:cNvPr id="20" name="Image 3" descr="MessagesSquare icon"/>
          <p:cNvPicPr>
            <a:picLocks noChangeAspect="1"/>
          </p:cNvPicPr>
          <p:nvPr/>
        </p:nvPicPr>
        <p:blipFill>
          <a:blip r:embed="rId6"/>
          <a:stretch>
            <a:fillRect/>
          </a:stretch>
        </p:blipFill>
        <p:spPr>
          <a:xfrm>
            <a:off x="6051499" y="1342339"/>
            <a:ext cx="332842" cy="332842"/>
          </a:xfrm>
          <a:prstGeom prst="rect">
            <a:avLst/>
          </a:prstGeom>
        </p:spPr>
      </p:pic>
      <p:sp>
        <p:nvSpPr>
          <p:cNvPr id="21" name="Enhancement Chat retention"/>
          <p:cNvSpPr/>
          <p:nvPr/>
        </p:nvSpPr>
        <p:spPr>
          <a:xfrm>
            <a:off x="5486400" y="2057400"/>
            <a:ext cx="1463040" cy="1920240"/>
          </a:xfrm>
          <a:prstGeom prst="roundRect">
            <a:avLst>
              <a:gd name="adj" fmla="val 8750"/>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22" name="Text 16"/>
          <p:cNvSpPr txBox="1"/>
          <p:nvPr/>
        </p:nvSpPr>
        <p:spPr>
          <a:xfrm>
            <a:off x="5623560" y="2194560"/>
            <a:ext cx="1188720" cy="548640"/>
          </a:xfrm>
          <a:prstGeom prst="rect">
            <a:avLst/>
          </a:prstGeom>
          <a:noFill/>
          <a:ln/>
        </p:spPr>
        <p:txBody>
          <a:bodyPr wrap="square" lIns="0" tIns="0" rIns="0" bIns="0" rtlCol="0" anchor="t"/>
          <a:lstStyle/>
          <a:p>
            <a:pPr marL="0" indent="0">
              <a:buNone/>
            </a:pPr>
            <a:r>
              <a:rPr lang="en-US" sz="1400" b="1" dirty="0">
                <a:solidFill>
                  <a:schemeClr val="tx1"/>
                </a:solidFill>
                <a:latin typeface="+mj-lt" pitchFamily="34" charset="0"/>
                <a:ea typeface="+mj-lt" pitchFamily="34" charset="-122"/>
                <a:cs typeface="+mj-lt" pitchFamily="34" charset="-120"/>
              </a:rPr>
              <a:t>Chat retention</a:t>
            </a:r>
            <a:endParaRPr lang="en-US" sz="1400" dirty="0"/>
          </a:p>
        </p:txBody>
      </p:sp>
      <p:sp>
        <p:nvSpPr>
          <p:cNvPr id="23" name="Text 17"/>
          <p:cNvSpPr txBox="1"/>
          <p:nvPr/>
        </p:nvSpPr>
        <p:spPr>
          <a:xfrm>
            <a:off x="5623560" y="2788920"/>
            <a:ext cx="1188720" cy="1097280"/>
          </a:xfrm>
          <a:prstGeom prst="rect">
            <a:avLst/>
          </a:prstGeom>
          <a:noFill/>
          <a:ln/>
        </p:spPr>
        <p:txBody>
          <a:bodyPr wrap="square" lIns="0" tIns="0" rIns="0" bIns="0" rtlCol="0" anchor="t"/>
          <a:lstStyle/>
          <a:p>
            <a:pPr marL="0" indent="0">
              <a:buNone/>
            </a:pPr>
            <a:r>
              <a:rPr lang="en-US" sz="1200" dirty="0">
                <a:solidFill>
                  <a:schemeClr val="tx2"/>
                </a:solidFill>
              </a:rPr>
              <a:t>Rules for pre-join visibility, retention, and deletion</a:t>
            </a:r>
            <a:endParaRPr lang="en-US" sz="1200" dirty="0"/>
          </a:p>
        </p:txBody>
      </p:sp>
      <p:sp>
        <p:nvSpPr>
          <p:cNvPr id="24" name="Icon circle LuClipboardCheck"/>
          <p:cNvSpPr/>
          <p:nvPr/>
        </p:nvSpPr>
        <p:spPr>
          <a:xfrm>
            <a:off x="7543800" y="1188720"/>
            <a:ext cx="640080" cy="640080"/>
          </a:xfrm>
          <a:prstGeom prst="ellipse">
            <a:avLst/>
          </a:prstGeom>
          <a:solidFill>
            <a:schemeClr val="accent1"/>
          </a:solidFill>
          <a:ln/>
        </p:spPr>
        <p:txBody>
          <a:bodyPr/>
          <a:lstStyle/>
          <a:p>
            <a:endParaRPr lang="en-US"/>
          </a:p>
        </p:txBody>
      </p:sp>
      <p:sp>
        <p:nvSpPr>
          <p:cNvPr id="26" name="Enhancement AI evaluation"/>
          <p:cNvSpPr/>
          <p:nvPr/>
        </p:nvSpPr>
        <p:spPr>
          <a:xfrm>
            <a:off x="7132320" y="2057400"/>
            <a:ext cx="1463040" cy="1920240"/>
          </a:xfrm>
          <a:prstGeom prst="roundRect">
            <a:avLst>
              <a:gd name="adj" fmla="val 8750"/>
            </a:avLst>
          </a:prstGeom>
          <a:solidFill>
            <a:srgbClr val="FFFFFF"/>
          </a:solidFill>
          <a:ln w="9525">
            <a:solidFill>
              <a:srgbClr val="FFF1C7"/>
            </a:solidFill>
            <a:prstDash val="solid"/>
          </a:ln>
          <a:effectLst>
            <a:outerShdw blurRad="127000" dist="25400" dir="5400000" algn="bl" rotWithShape="0">
              <a:srgbClr val="79632B">
                <a:alpha val="14000"/>
              </a:srgbClr>
            </a:outerShdw>
          </a:effectLst>
        </p:spPr>
        <p:txBody>
          <a:bodyPr/>
          <a:lstStyle/>
          <a:p>
            <a:endParaRPr lang="en-US"/>
          </a:p>
        </p:txBody>
      </p:sp>
      <p:sp>
        <p:nvSpPr>
          <p:cNvPr id="27" name="Text 20"/>
          <p:cNvSpPr txBox="1"/>
          <p:nvPr/>
        </p:nvSpPr>
        <p:spPr>
          <a:xfrm>
            <a:off x="7269480" y="2194560"/>
            <a:ext cx="1188720" cy="548640"/>
          </a:xfrm>
          <a:prstGeom prst="rect">
            <a:avLst/>
          </a:prstGeom>
          <a:noFill/>
          <a:ln/>
        </p:spPr>
        <p:txBody>
          <a:bodyPr wrap="square" lIns="0" tIns="0" rIns="0" bIns="0" rtlCol="0" anchor="t"/>
          <a:lstStyle/>
          <a:p>
            <a:pPr marL="0" indent="0">
              <a:buNone/>
            </a:pPr>
            <a:r>
              <a:rPr lang="en-US" sz="1400" b="1" dirty="0">
                <a:solidFill>
                  <a:schemeClr val="tx1"/>
                </a:solidFill>
                <a:latin typeface="+mj-lt" pitchFamily="34" charset="0"/>
                <a:ea typeface="+mj-lt" pitchFamily="34" charset="-122"/>
                <a:cs typeface="+mj-lt" pitchFamily="34" charset="-120"/>
              </a:rPr>
              <a:t>Additional Emotions</a:t>
            </a:r>
            <a:endParaRPr lang="en-US" sz="1400" dirty="0"/>
          </a:p>
        </p:txBody>
      </p:sp>
      <p:sp>
        <p:nvSpPr>
          <p:cNvPr id="28" name="Text 21"/>
          <p:cNvSpPr txBox="1"/>
          <p:nvPr/>
        </p:nvSpPr>
        <p:spPr>
          <a:xfrm>
            <a:off x="7269480" y="2788920"/>
            <a:ext cx="1188720" cy="1097280"/>
          </a:xfrm>
          <a:prstGeom prst="rect">
            <a:avLst/>
          </a:prstGeom>
          <a:noFill/>
          <a:ln/>
        </p:spPr>
        <p:txBody>
          <a:bodyPr wrap="square" lIns="0" tIns="0" rIns="0" bIns="0" rtlCol="0" anchor="t"/>
          <a:lstStyle/>
          <a:p>
            <a:pPr marL="0" indent="0">
              <a:buNone/>
            </a:pPr>
            <a:r>
              <a:rPr lang="en-US" sz="1200" dirty="0">
                <a:solidFill>
                  <a:schemeClr val="tx2"/>
                </a:solidFill>
              </a:rPr>
              <a:t>Provide more emotions in the daily check-in to acknowledge more user’s feelings.</a:t>
            </a:r>
            <a:endParaRPr lang="en-US" sz="1200" dirty="0"/>
          </a:p>
        </p:txBody>
      </p:sp>
      <p:sp>
        <p:nvSpPr>
          <p:cNvPr id="29" name="Slide Number Placeholder 0"/>
          <p:cNvSpPr>
            <a:spLocks noGrp="1"/>
          </p:cNvSpPr>
          <p:nvPr>
            <p:ph type="sldNum" sz="quarter" idx="4294967295"/>
          </p:nvPr>
        </p:nvSpPr>
        <p:spPr>
          <a:xfrm>
            <a:off x="548640" y="4736592"/>
            <a:ext cx="45720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l"/>
            <a:fld id="{F7021451-1387-4CA6-816F-3879F97B5CBC}" type="slidenum">
              <a:rPr lang="en-US" b="0"/>
              <a:t>14</a:t>
            </a:fld>
            <a:endParaRPr lang="en-US"/>
          </a:p>
        </p:txBody>
      </p:sp>
      <p:pic>
        <p:nvPicPr>
          <p:cNvPr id="33" name="Image 1" descr="Smile icon">
            <a:extLst>
              <a:ext uri="{FF2B5EF4-FFF2-40B4-BE49-F238E27FC236}">
                <a16:creationId xmlns:a16="http://schemas.microsoft.com/office/drawing/2014/main" id="{46E67349-8936-1545-84B3-B542D470D0F1}"/>
              </a:ext>
            </a:extLst>
          </p:cNvPr>
          <p:cNvPicPr>
            <a:picLocks noChangeAspect="1"/>
          </p:cNvPicPr>
          <p:nvPr/>
        </p:nvPicPr>
        <p:blipFill>
          <a:blip r:embed="rId7"/>
          <a:stretch>
            <a:fillRect/>
          </a:stretch>
        </p:blipFill>
        <p:spPr>
          <a:xfrm>
            <a:off x="7697470" y="1342339"/>
            <a:ext cx="332842" cy="33284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2" hasCustomPrompt="1"/>
          </p:nvPr>
        </p:nvSpPr>
        <p:spPr>
          <a:xfrm>
            <a:off x="731520" y="502920"/>
            <a:ext cx="7680960" cy="731520"/>
          </a:xfrm>
          <a:prstGeom prst="rect">
            <a:avLst/>
          </a:prstGeom>
          <a:noFill/>
          <a:ln/>
        </p:spPr>
        <p:txBody>
          <a:bodyPr wrap="square" lIns="0" tIns="0" rIns="0" bIns="0" rtlCol="0" anchor="ctr"/>
          <a:lstStyle/>
          <a:p>
            <a:pPr marL="0" indent="0" algn="ctr">
              <a:buNone/>
            </a:pPr>
            <a:r>
              <a:rPr lang="en-US" sz="3200" b="1" dirty="0">
                <a:solidFill>
                  <a:schemeClr val="tx1"/>
                </a:solidFill>
              </a:rPr>
              <a:t>Every feeling deserves to be recognized</a:t>
            </a:r>
            <a:endParaRPr lang="en-US" sz="3200" dirty="0"/>
          </a:p>
        </p:txBody>
      </p:sp>
      <p:sp>
        <p:nvSpPr>
          <p:cNvPr id="3" name="Icon circle LuCloudSun"/>
          <p:cNvSpPr/>
          <p:nvPr/>
        </p:nvSpPr>
        <p:spPr>
          <a:xfrm>
            <a:off x="3977640" y="1417320"/>
            <a:ext cx="1188720" cy="1188720"/>
          </a:xfrm>
          <a:prstGeom prst="ellipse">
            <a:avLst/>
          </a:prstGeom>
          <a:solidFill>
            <a:srgbClr val="FFFAF0"/>
          </a:solidFill>
          <a:ln/>
        </p:spPr>
        <p:txBody>
          <a:bodyPr/>
          <a:lstStyle/>
          <a:p>
            <a:endParaRPr lang="en-US"/>
          </a:p>
        </p:txBody>
      </p:sp>
      <p:pic>
        <p:nvPicPr>
          <p:cNvPr id="4" name="Image 0" descr="CloudSun icon"/>
          <p:cNvPicPr>
            <a:picLocks noChangeAspect="1"/>
          </p:cNvPicPr>
          <p:nvPr/>
        </p:nvPicPr>
        <p:blipFill>
          <a:blip r:embed="rId3"/>
          <a:stretch>
            <a:fillRect/>
          </a:stretch>
        </p:blipFill>
        <p:spPr>
          <a:xfrm>
            <a:off x="4262933" y="1702613"/>
            <a:ext cx="618134" cy="618134"/>
          </a:xfrm>
          <a:prstGeom prst="rect">
            <a:avLst/>
          </a:prstGeom>
        </p:spPr>
      </p:pic>
      <p:sp>
        <p:nvSpPr>
          <p:cNvPr id="5" name="Text 2"/>
          <p:cNvSpPr txBox="1"/>
          <p:nvPr/>
        </p:nvSpPr>
        <p:spPr>
          <a:xfrm>
            <a:off x="1645920" y="2788920"/>
            <a:ext cx="5852160" cy="731520"/>
          </a:xfrm>
          <a:prstGeom prst="rect">
            <a:avLst/>
          </a:prstGeom>
          <a:noFill/>
          <a:ln/>
        </p:spPr>
        <p:txBody>
          <a:bodyPr wrap="square" lIns="0" tIns="0" rIns="0" bIns="0" rtlCol="0" anchor="t"/>
          <a:lstStyle/>
          <a:p>
            <a:pPr marL="0" indent="0" algn="ctr">
              <a:buNone/>
            </a:pPr>
            <a:r>
              <a:rPr lang="en-US" sz="1600" dirty="0">
                <a:solidFill>
                  <a:schemeClr val="tx1"/>
                </a:solidFill>
              </a:rPr>
              <a:t>DayFeel is a welcoming place to check in, reflect, and feel heard, complementing trusted relationships and professional support.</a:t>
            </a:r>
            <a:endParaRPr lang="en-US" sz="1600" dirty="0"/>
          </a:p>
        </p:txBody>
      </p:sp>
      <p:sp>
        <p:nvSpPr>
          <p:cNvPr id="6" name="Logo plate"/>
          <p:cNvSpPr/>
          <p:nvPr/>
        </p:nvSpPr>
        <p:spPr>
          <a:xfrm>
            <a:off x="2743200" y="3749040"/>
            <a:ext cx="3657600" cy="777240"/>
          </a:xfrm>
          <a:prstGeom prst="roundRect">
            <a:avLst>
              <a:gd name="adj" fmla="val 23529"/>
            </a:avLst>
          </a:prstGeom>
          <a:solidFill>
            <a:srgbClr val="FFFAF0"/>
          </a:solidFill>
          <a:ln/>
          <a:effectLst>
            <a:outerShdw blurRad="127000" dist="25400" dir="5400000" algn="bl" rotWithShape="0">
              <a:srgbClr val="79632B">
                <a:alpha val="14000"/>
              </a:srgbClr>
            </a:outerShdw>
          </a:effectLst>
        </p:spPr>
        <p:txBody>
          <a:bodyPr/>
          <a:lstStyle/>
          <a:p>
            <a:endParaRPr lang="en-US"/>
          </a:p>
        </p:txBody>
      </p:sp>
      <p:pic>
        <p:nvPicPr>
          <p:cNvPr id="7" name="Image 1" descr="DayFeel logo"/>
          <p:cNvPicPr>
            <a:picLocks noChangeAspect="1"/>
          </p:cNvPicPr>
          <p:nvPr/>
        </p:nvPicPr>
        <p:blipFill>
          <a:blip r:embed="rId4"/>
          <a:stretch>
            <a:fillRect/>
          </a:stretch>
        </p:blipFill>
        <p:spPr>
          <a:xfrm>
            <a:off x="3566160" y="3849624"/>
            <a:ext cx="2011680" cy="571500"/>
          </a:xfrm>
          <a:prstGeom prst="rect">
            <a:avLst/>
          </a:prstGeom>
        </p:spPr>
      </p:pic>
    </p:spTree>
  </p:cSld>
  <p:clrMapOvr>
    <a:masterClrMapping/>
  </p:clrMapOvr>
</p:sld>
</file>

<file path=ppt/theme/theme1.xml><?xml version="1.0" encoding="utf-8"?>
<a:theme xmlns:a="http://schemas.openxmlformats.org/drawingml/2006/main" name="DayFeel Warm">
  <a:themeElements>
    <a:clrScheme name="DayFeel Warm">
      <a:dk1>
        <a:srgbClr val="3E3424"/>
      </a:dk1>
      <a:lt1>
        <a:srgbClr val="FFFAF0"/>
      </a:lt1>
      <a:dk2>
        <a:srgbClr val="79632B"/>
      </a:dk2>
      <a:lt2>
        <a:srgbClr val="FFF1C7"/>
      </a:lt2>
      <a:accent1>
        <a:srgbClr val="F0CC60"/>
      </a:accent1>
      <a:accent2>
        <a:srgbClr val="E5A94E"/>
      </a:accent2>
      <a:accent3>
        <a:srgbClr val="A9BF9C"/>
      </a:accent3>
      <a:accent4>
        <a:srgbClr val="EDB9A4"/>
      </a:accent4>
      <a:accent5>
        <a:srgbClr val="A9C3D9"/>
      </a:accent5>
      <a:accent6>
        <a:srgbClr val="C7B5D9"/>
      </a:accent6>
      <a:hlink>
        <a:srgbClr val="79632B"/>
      </a:hlink>
      <a:folHlink>
        <a:srgbClr val="A0863C"/>
      </a:folHlink>
    </a:clrScheme>
    <a:fontScheme name="DayFeel War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1102</TotalTime>
  <Words>1513</Words>
  <Application>Microsoft Office PowerPoint</Application>
  <PresentationFormat>On-screen Show (16:9)</PresentationFormat>
  <Paragraphs>186</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DayFeel Warm</vt:lpstr>
      <vt:lpstr>PowerPoint Presentation</vt:lpstr>
      <vt:lpstr>Feelings get scattered everywhere</vt:lpstr>
      <vt:lpstr>One gentle place for every need</vt:lpstr>
      <vt:lpstr>Where the name comes from</vt:lpstr>
      <vt:lpstr>Why yellow? Your “yellow person”</vt:lpstr>
      <vt:lpstr>What DayFeel sets out to do</vt:lpstr>
      <vt:lpstr>Three roles, clear responsibilities</vt:lpstr>
      <vt:lpstr>What members can do today</vt:lpstr>
      <vt:lpstr>How the pieces fit together</vt:lpstr>
      <vt:lpstr>Three services, each owning its part</vt:lpstr>
      <vt:lpstr>Deployed on a single AWS EC2 instance</vt:lpstr>
      <vt:lpstr>Where data lives</vt:lpstr>
      <vt:lpstr>Principal workflows</vt:lpstr>
      <vt:lpstr>What’s next for DayFeel</vt:lpstr>
      <vt:lpstr>Every feeling deserves to be recognized</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DayFeel: Your Day, Your Feelings</dc:title>
  <dc:subject>PptxGenJS Presentation</dc:subject>
  <dc:creator>DayFeel</dc:creator>
  <cp:lastModifiedBy>Yves Valencia (AC Manila)</cp:lastModifiedBy>
  <cp:revision>7</cp:revision>
  <dcterms:created xsi:type="dcterms:W3CDTF">2026-10-28T07:44:28Z</dcterms:created>
  <dcterms:modified xsi:type="dcterms:W3CDTF">2026-10-29T09:10:27Z</dcterms:modified>
</cp:coreProperties>
</file>